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B2F45"/>
                </a:solidFill>
                <a:latin typeface="Calibri"/>
              </a:defRPr>
            </a:pPr>
            <a:r>
              <a:rPr sz="1400" b="0" i="0" u="none" strike="noStrike">
                <a:solidFill>
                  <a:srgbClr val="2B2F45"/>
                </a:solidFill>
                <a:latin typeface="Calibri"/>
              </a:rPr>
              <a:t>Recall per class (%)</a:t>
            </a:r>
          </a:p>
        </c:rich>
      </c:tx>
      <c:layout/>
      <c:overlay val="0"/>
    </c:title>
    <c:autoTitleDeleted val="0"/>
    <c:plotArea>
      <c:layout/>
      <c:barChart>
        <c:barDir val="bar"/>
        <c:grouping val="clustered"/>
        <c:varyColors val="0"/>
        <c:ser>
          <c:idx val="0"/>
          <c:order val="0"/>
          <c:tx>
            <c:strRef>
              <c:f>Sheet1!$B$1</c:f>
              <c:strCache>
                <c:ptCount val="1"/>
                <c:pt idx="0">
                  <c:v>Recall (%)</c:v>
                </c:pt>
              </c:strCache>
            </c:strRef>
          </c:tx>
          <c:spPr>
            <a:solidFill>
              <a:srgbClr val="1F2A5C"/>
            </a:solidFill>
            <a:effectLst/>
          </c:spPr>
          <c:invertIfNegative val="0"/>
          <c:dLbls>
            <c:numFmt formatCode="#,##0" sourceLinked="0"/>
            <c:txPr>
              <a:bodyPr/>
              <a:lstStyle/>
              <a:p>
                <a:pPr>
                  <a:defRPr b="0" i="0" strike="noStrike" sz="1200" u="none">
                    <a:solidFill>
                      <a:srgbClr val="2B2F45"/>
                    </a:solidFill>
                    <a:latin typeface="Calibri"/>
                  </a:defRPr>
                </a:pPr>
              </a:p>
            </c:txPr>
            <c:showLegendKey val="0"/>
            <c:showVal val="1"/>
            <c:showCatName val="0"/>
            <c:showSerName val="0"/>
            <c:showPercent val="0"/>
            <c:showBubbleSize val="0"/>
            <c:showLeaderLines val="0"/>
          </c:dLbls>
          <c:cat>
            <c:multiLvlStrRef>
              <c:f>Sheet1!$A$2:$A$9</c:f>
              <c:multiLvlStrCache>
                <c:ptCount val="8"/>
                <c:lvl>
                  <c:pt idx="0">
                    <c:v>Oxidised metal craft</c:v>
                  </c:pt>
                  <c:pt idx="1">
                    <c:v>Kalamkari</c:v>
                  </c:pt>
                  <c:pt idx="2">
                    <c:v>Bandhani tie dye</c:v>
                  </c:pt>
                  <c:pt idx="3">
                    <c:v>Pochampally ikat</c:v>
                  </c:pt>
                  <c:pt idx="4">
                    <c:v>Ajrakh</c:v>
                  </c:pt>
                  <c:pt idx="5">
                    <c:v>Jacquard weaving</c:v>
                  </c:pt>
                  <c:pt idx="6">
                    <c:v>Batik</c:v>
                  </c:pt>
                  <c:pt idx="7">
                    <c:v>Sanganeri</c:v>
                  </c:pt>
                </c:lvl>
              </c:multiLvlStrCache>
            </c:multiLvlStrRef>
          </c:cat>
          <c:val>
            <c:numRef>
              <c:f>Sheet1!$B$2:$B$9</c:f>
              <c:numCache>
                <c:formatCode>General</c:formatCode>
                <c:ptCount val="8"/>
                <c:pt idx="0">
                  <c:v>100</c:v>
                </c:pt>
                <c:pt idx="1">
                  <c:v>98</c:v>
                </c:pt>
                <c:pt idx="2">
                  <c:v>95</c:v>
                </c:pt>
                <c:pt idx="3">
                  <c:v>90</c:v>
                </c:pt>
                <c:pt idx="4">
                  <c:v>80</c:v>
                </c:pt>
                <c:pt idx="5">
                  <c:v>80</c:v>
                </c:pt>
                <c:pt idx="6">
                  <c:v>75</c:v>
                </c:pt>
                <c:pt idx="7">
                  <c:v>73</c:v>
                </c:pt>
              </c:numCache>
            </c:numRef>
          </c:val>
        </c:ser>
        <c:dLbls>
          <c:numFmt formatCode="#,##0" sourceLinked="0"/>
          <c:txPr>
            <a:bodyPr/>
            <a:lstStyle/>
            <a:p>
              <a:pPr>
                <a:defRPr b="0" i="0" strike="noStrike" sz="1200" u="none">
                  <a:solidFill>
                    <a:srgbClr val="2B2F45"/>
                  </a:solidFill>
                  <a:latin typeface="Calibri"/>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2B2F45"/>
                </a:solidFill>
                <a:latin typeface="Calibri"/>
              </a:defRPr>
            </a:pPr>
            <a:endParaRPr lang="en-US"/>
          </a:p>
        </c:txPr>
        <c:crossAx val="2094734552"/>
        <c:crosses val="autoZero"/>
        <c:auto val="1"/>
        <c:lblAlgn val="ctr"/>
        <c:noMultiLvlLbl val="1"/>
      </c:catAx>
      <c:valAx>
        <c:axId val="2094734552"/>
        <c:scaling>
          <c:orientation val="minMax"/>
          <c:max val="11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speakers: introduce yourselves and the project. Craft Cataloger takes a photo of an Indian handicraft and tells you which craft it is, then fills in a catalog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Leela. The problem is that cataloging every product is slow, especially for small artisans.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Leela. Our system has three steps: photo, model, catalog card. ShilpSetu AI is the bigger hackathon idea; we implemented only the cataloging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Leela. The data comes from a public Kaggle dataset. The art form column gives us ready-made labels.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Leela. We cleaned the labels, kept the eight most common craft classes with 400 images each, and split them into train, validation and test sets. The test set is never used during training.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Leela. We use ResNet18 with ImageNet weights. We replace its last layer with a new one that outputs our 8 craft classes. This is fine-tuning of a pre-trained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Leela. Stage 1 trains only the new head, which is fast and safe. Stage 2 also unfreezes layer4 with a ten times smaller learning rate so the pre-trained weights change gently. Training images get random flips and colour jitter.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Suneet. Validation accuracy goes from 72.1% after stage 1 to 80.8% in the first fine-tuning epoch and peaks at 86.3%. The training loss near zero while validation accuracy stays flat shows mild overfitting.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Suneet. On the 480 unseen test images the model gets 415 right, which is 86.5%. The test set has 60 images per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Suneet. Recall is the share of each craft that the model found. Metal craft is perfect. Block-printed textiles share motifs and colours, so they get confused with each other at 224 by 224 pixels.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Suneet. Live demo if possible. We show a wrong example on purpose: the model must pick one of its eight classes and its confidence is not calibrated.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Suneet. Be honest about limitations: noisy web labels, a small class set, a single split, and overconfident predictions. Future work includes better backbones, early stopping, Grad-CAM, using text, and a mobile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speakers: summarise the three takeaways and close with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7A7F99"/>
                </a:solidFill>
                <a:latin typeface="Calibri"/>
                <a:ea typeface="Calibri"/>
                <a:cs typeface="Calibri"/>
              </a:defRPr>
            </a:lvl1pPr>
          </a:lstStyle>
          <a:p>
            <a:pPr algn="l"/>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7A7F99"/>
                </a:solidFill>
                <a:latin typeface="Calibri"/>
                <a:ea typeface="Calibri"/>
                <a:cs typeface="Calibri"/>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2A5C"/>
        </a:solidFill>
      </p:bgPr>
    </p:bg>
    <p:spTree>
      <p:nvGrpSpPr>
        <p:cNvPr id="1" name=""/>
        <p:cNvGrpSpPr/>
        <p:nvPr/>
      </p:nvGrpSpPr>
      <p:grpSpPr>
        <a:xfrm>
          <a:off x="0" y="0"/>
          <a:ext cx="0" cy="0"/>
          <a:chOff x="0" y="0"/>
          <a:chExt cx="0" cy="0"/>
        </a:xfrm>
      </p:grpSpPr>
      <p:sp>
        <p:nvSpPr>
          <p:cNvPr id="2" name="Text 0"/>
          <p:cNvSpPr txBox="1"/>
          <p:nvPr/>
        </p:nvSpPr>
        <p:spPr>
          <a:xfrm>
            <a:off x="640080" y="1371600"/>
            <a:ext cx="4937760" cy="91440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Craft Cataloger</a:t>
            </a:r>
            <a:endParaRPr lang="en-US" sz="4800" dirty="0"/>
          </a:p>
        </p:txBody>
      </p:sp>
      <p:sp>
        <p:nvSpPr>
          <p:cNvPr id="3" name="Text 1"/>
          <p:cNvSpPr txBox="1"/>
          <p:nvPr/>
        </p:nvSpPr>
        <p:spPr>
          <a:xfrm>
            <a:off x="640080" y="2377440"/>
            <a:ext cx="4754880" cy="822960"/>
          </a:xfrm>
          <a:prstGeom prst="rect">
            <a:avLst/>
          </a:prstGeom>
          <a:noFill/>
          <a:ln/>
        </p:spPr>
        <p:txBody>
          <a:bodyPr wrap="square" lIns="0" tIns="0" rIns="0" bIns="0" rtlCol="0" anchor="t"/>
          <a:lstStyle/>
          <a:p>
            <a:pPr indent="0" marL="0">
              <a:buNone/>
            </a:pPr>
            <a:r>
              <a:rPr lang="en-US" sz="2000" dirty="0">
                <a:solidFill>
                  <a:srgbClr val="D9DEF2"/>
                </a:solidFill>
                <a:latin typeface="Calibri" pitchFamily="34" charset="0"/>
                <a:ea typeface="Calibri" pitchFamily="34" charset="-122"/>
                <a:cs typeface="Calibri" pitchFamily="34" charset="-120"/>
              </a:rPr>
              <a:t>Identifying Indian handicrafts from a photo using deep learning</a:t>
            </a:r>
            <a:endParaRPr lang="en-US" sz="2000" dirty="0"/>
          </a:p>
        </p:txBody>
      </p:sp>
      <p:sp>
        <p:nvSpPr>
          <p:cNvPr id="4" name="Text 2"/>
          <p:cNvSpPr txBox="1"/>
          <p:nvPr/>
        </p:nvSpPr>
        <p:spPr>
          <a:xfrm>
            <a:off x="640080" y="4023360"/>
            <a:ext cx="4937760" cy="36576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Leela Sai Charan Putti  ·  Suneet Reddy</a:t>
            </a:r>
            <a:endParaRPr lang="en-US" sz="1600" dirty="0"/>
          </a:p>
        </p:txBody>
      </p:sp>
      <p:sp>
        <p:nvSpPr>
          <p:cNvPr id="5" name="Text 3"/>
          <p:cNvSpPr txBox="1"/>
          <p:nvPr/>
        </p:nvSpPr>
        <p:spPr>
          <a:xfrm>
            <a:off x="640080" y="4389120"/>
            <a:ext cx="4937760" cy="320040"/>
          </a:xfrm>
          <a:prstGeom prst="rect">
            <a:avLst/>
          </a:prstGeom>
          <a:noFill/>
          <a:ln/>
        </p:spPr>
        <p:txBody>
          <a:bodyPr wrap="square" lIns="0" tIns="0" rIns="0" bIns="0" rtlCol="0" anchor="ctr"/>
          <a:lstStyle/>
          <a:p>
            <a:pPr indent="0" marL="0">
              <a:buNone/>
            </a:pPr>
            <a:r>
              <a:rPr lang="en-US" sz="1400" dirty="0">
                <a:solidFill>
                  <a:srgbClr val="D9DEF2"/>
                </a:solidFill>
                <a:latin typeface="Calibri" pitchFamily="34" charset="0"/>
                <a:ea typeface="Calibri" pitchFamily="34" charset="-122"/>
                <a:cs typeface="Calibri" pitchFamily="34" charset="-120"/>
              </a:rPr>
              <a:t>Deep Learning Lab  ·  CBIT Hyderabad</a:t>
            </a:r>
            <a:endParaRPr lang="en-US" sz="1400" dirty="0"/>
          </a:p>
        </p:txBody>
      </p:sp>
      <p:sp>
        <p:nvSpPr>
          <p:cNvPr id="6" name="Shape 4"/>
          <p:cNvSpPr/>
          <p:nvPr/>
        </p:nvSpPr>
        <p:spPr>
          <a:xfrm>
            <a:off x="6126480" y="1143000"/>
            <a:ext cx="310896" cy="310896"/>
          </a:xfrm>
          <a:prstGeom prst="ellipse">
            <a:avLst/>
          </a:prstGeom>
          <a:solidFill>
            <a:srgbClr val="C4472F"/>
          </a:solidFill>
          <a:ln w="12700">
            <a:solidFill>
              <a:srgbClr val="C4472F"/>
            </a:solidFill>
            <a:prstDash val="solid"/>
          </a:ln>
        </p:spPr>
      </p:sp>
      <p:sp>
        <p:nvSpPr>
          <p:cNvPr id="7" name="Shape 5"/>
          <p:cNvSpPr/>
          <p:nvPr/>
        </p:nvSpPr>
        <p:spPr>
          <a:xfrm>
            <a:off x="6620256" y="1143000"/>
            <a:ext cx="310896" cy="310896"/>
          </a:xfrm>
          <a:prstGeom prst="ellipse">
            <a:avLst/>
          </a:prstGeom>
          <a:solidFill>
            <a:srgbClr val="3B4A8F"/>
          </a:solidFill>
          <a:ln w="12700">
            <a:solidFill>
              <a:srgbClr val="3B4A8F"/>
            </a:solidFill>
            <a:prstDash val="solid"/>
          </a:ln>
        </p:spPr>
      </p:sp>
      <p:sp>
        <p:nvSpPr>
          <p:cNvPr id="8" name="Shape 6"/>
          <p:cNvSpPr/>
          <p:nvPr/>
        </p:nvSpPr>
        <p:spPr>
          <a:xfrm>
            <a:off x="7114032" y="1143000"/>
            <a:ext cx="310896" cy="310896"/>
          </a:xfrm>
          <a:prstGeom prst="ellipse">
            <a:avLst/>
          </a:prstGeom>
          <a:solidFill>
            <a:srgbClr val="C4472F"/>
          </a:solidFill>
          <a:ln w="12700">
            <a:solidFill>
              <a:srgbClr val="C4472F"/>
            </a:solidFill>
            <a:prstDash val="solid"/>
          </a:ln>
        </p:spPr>
      </p:sp>
      <p:sp>
        <p:nvSpPr>
          <p:cNvPr id="9" name="Shape 7"/>
          <p:cNvSpPr/>
          <p:nvPr/>
        </p:nvSpPr>
        <p:spPr>
          <a:xfrm>
            <a:off x="7607808" y="1143000"/>
            <a:ext cx="310896" cy="310896"/>
          </a:xfrm>
          <a:prstGeom prst="ellipse">
            <a:avLst/>
          </a:prstGeom>
          <a:solidFill>
            <a:srgbClr val="3B4A8F"/>
          </a:solidFill>
          <a:ln w="12700">
            <a:solidFill>
              <a:srgbClr val="3B4A8F"/>
            </a:solidFill>
            <a:prstDash val="solid"/>
          </a:ln>
        </p:spPr>
      </p:sp>
      <p:sp>
        <p:nvSpPr>
          <p:cNvPr id="10" name="Shape 8"/>
          <p:cNvSpPr/>
          <p:nvPr/>
        </p:nvSpPr>
        <p:spPr>
          <a:xfrm>
            <a:off x="8101584" y="1143000"/>
            <a:ext cx="310896" cy="310896"/>
          </a:xfrm>
          <a:prstGeom prst="ellipse">
            <a:avLst/>
          </a:prstGeom>
          <a:solidFill>
            <a:srgbClr val="C4472F"/>
          </a:solidFill>
          <a:ln w="12700">
            <a:solidFill>
              <a:srgbClr val="C4472F"/>
            </a:solidFill>
            <a:prstDash val="solid"/>
          </a:ln>
        </p:spPr>
      </p:sp>
      <p:sp>
        <p:nvSpPr>
          <p:cNvPr id="11" name="Shape 9"/>
          <p:cNvSpPr/>
          <p:nvPr/>
        </p:nvSpPr>
        <p:spPr>
          <a:xfrm>
            <a:off x="6126480" y="1636776"/>
            <a:ext cx="310896" cy="310896"/>
          </a:xfrm>
          <a:prstGeom prst="ellipse">
            <a:avLst/>
          </a:prstGeom>
          <a:solidFill>
            <a:srgbClr val="3B4A8F"/>
          </a:solidFill>
          <a:ln w="12700">
            <a:solidFill>
              <a:srgbClr val="3B4A8F"/>
            </a:solidFill>
            <a:prstDash val="solid"/>
          </a:ln>
        </p:spPr>
      </p:sp>
      <p:sp>
        <p:nvSpPr>
          <p:cNvPr id="12" name="Shape 10"/>
          <p:cNvSpPr/>
          <p:nvPr/>
        </p:nvSpPr>
        <p:spPr>
          <a:xfrm>
            <a:off x="6620256" y="1636776"/>
            <a:ext cx="310896" cy="310896"/>
          </a:xfrm>
          <a:prstGeom prst="ellipse">
            <a:avLst/>
          </a:prstGeom>
          <a:solidFill>
            <a:srgbClr val="C4472F"/>
          </a:solidFill>
          <a:ln w="12700">
            <a:solidFill>
              <a:srgbClr val="C4472F"/>
            </a:solidFill>
            <a:prstDash val="solid"/>
          </a:ln>
        </p:spPr>
      </p:sp>
      <p:sp>
        <p:nvSpPr>
          <p:cNvPr id="13" name="Shape 11"/>
          <p:cNvSpPr/>
          <p:nvPr/>
        </p:nvSpPr>
        <p:spPr>
          <a:xfrm>
            <a:off x="7114032" y="1636776"/>
            <a:ext cx="310896" cy="310896"/>
          </a:xfrm>
          <a:prstGeom prst="ellipse">
            <a:avLst/>
          </a:prstGeom>
          <a:solidFill>
            <a:srgbClr val="3B4A8F"/>
          </a:solidFill>
          <a:ln w="12700">
            <a:solidFill>
              <a:srgbClr val="3B4A8F"/>
            </a:solidFill>
            <a:prstDash val="solid"/>
          </a:ln>
        </p:spPr>
      </p:sp>
      <p:sp>
        <p:nvSpPr>
          <p:cNvPr id="14" name="Shape 12"/>
          <p:cNvSpPr/>
          <p:nvPr/>
        </p:nvSpPr>
        <p:spPr>
          <a:xfrm>
            <a:off x="7607808" y="1636776"/>
            <a:ext cx="310896" cy="310896"/>
          </a:xfrm>
          <a:prstGeom prst="ellipse">
            <a:avLst/>
          </a:prstGeom>
          <a:solidFill>
            <a:srgbClr val="C4472F"/>
          </a:solidFill>
          <a:ln w="12700">
            <a:solidFill>
              <a:srgbClr val="C4472F"/>
            </a:solidFill>
            <a:prstDash val="solid"/>
          </a:ln>
        </p:spPr>
      </p:sp>
      <p:sp>
        <p:nvSpPr>
          <p:cNvPr id="15" name="Shape 13"/>
          <p:cNvSpPr/>
          <p:nvPr/>
        </p:nvSpPr>
        <p:spPr>
          <a:xfrm>
            <a:off x="8101584" y="1636776"/>
            <a:ext cx="310896" cy="310896"/>
          </a:xfrm>
          <a:prstGeom prst="ellipse">
            <a:avLst/>
          </a:prstGeom>
          <a:solidFill>
            <a:srgbClr val="3B4A8F"/>
          </a:solidFill>
          <a:ln w="12700">
            <a:solidFill>
              <a:srgbClr val="3B4A8F"/>
            </a:solidFill>
            <a:prstDash val="solid"/>
          </a:ln>
        </p:spPr>
      </p:sp>
      <p:sp>
        <p:nvSpPr>
          <p:cNvPr id="16" name="Shape 14"/>
          <p:cNvSpPr/>
          <p:nvPr/>
        </p:nvSpPr>
        <p:spPr>
          <a:xfrm>
            <a:off x="6126480" y="2130552"/>
            <a:ext cx="310896" cy="310896"/>
          </a:xfrm>
          <a:prstGeom prst="ellipse">
            <a:avLst/>
          </a:prstGeom>
          <a:solidFill>
            <a:srgbClr val="C4472F"/>
          </a:solidFill>
          <a:ln w="12700">
            <a:solidFill>
              <a:srgbClr val="C4472F"/>
            </a:solidFill>
            <a:prstDash val="solid"/>
          </a:ln>
        </p:spPr>
      </p:sp>
      <p:sp>
        <p:nvSpPr>
          <p:cNvPr id="17" name="Shape 15"/>
          <p:cNvSpPr/>
          <p:nvPr/>
        </p:nvSpPr>
        <p:spPr>
          <a:xfrm>
            <a:off x="6620256" y="2130552"/>
            <a:ext cx="310896" cy="310896"/>
          </a:xfrm>
          <a:prstGeom prst="ellipse">
            <a:avLst/>
          </a:prstGeom>
          <a:solidFill>
            <a:srgbClr val="3B4A8F"/>
          </a:solidFill>
          <a:ln w="12700">
            <a:solidFill>
              <a:srgbClr val="3B4A8F"/>
            </a:solidFill>
            <a:prstDash val="solid"/>
          </a:ln>
        </p:spPr>
      </p:sp>
      <p:sp>
        <p:nvSpPr>
          <p:cNvPr id="18" name="Shape 16"/>
          <p:cNvSpPr/>
          <p:nvPr/>
        </p:nvSpPr>
        <p:spPr>
          <a:xfrm>
            <a:off x="7114032" y="2130552"/>
            <a:ext cx="310896" cy="310896"/>
          </a:xfrm>
          <a:prstGeom prst="ellipse">
            <a:avLst/>
          </a:prstGeom>
          <a:solidFill>
            <a:srgbClr val="C4472F"/>
          </a:solidFill>
          <a:ln w="12700">
            <a:solidFill>
              <a:srgbClr val="C4472F"/>
            </a:solidFill>
            <a:prstDash val="solid"/>
          </a:ln>
        </p:spPr>
      </p:sp>
      <p:sp>
        <p:nvSpPr>
          <p:cNvPr id="19" name="Shape 17"/>
          <p:cNvSpPr/>
          <p:nvPr/>
        </p:nvSpPr>
        <p:spPr>
          <a:xfrm>
            <a:off x="7607808" y="2130552"/>
            <a:ext cx="310896" cy="310896"/>
          </a:xfrm>
          <a:prstGeom prst="ellipse">
            <a:avLst/>
          </a:prstGeom>
          <a:solidFill>
            <a:srgbClr val="3B4A8F"/>
          </a:solidFill>
          <a:ln w="12700">
            <a:solidFill>
              <a:srgbClr val="3B4A8F"/>
            </a:solidFill>
            <a:prstDash val="solid"/>
          </a:ln>
        </p:spPr>
      </p:sp>
      <p:sp>
        <p:nvSpPr>
          <p:cNvPr id="20" name="Shape 18"/>
          <p:cNvSpPr/>
          <p:nvPr/>
        </p:nvSpPr>
        <p:spPr>
          <a:xfrm>
            <a:off x="8101584" y="2130552"/>
            <a:ext cx="310896" cy="310896"/>
          </a:xfrm>
          <a:prstGeom prst="ellipse">
            <a:avLst/>
          </a:prstGeom>
          <a:solidFill>
            <a:srgbClr val="C4472F"/>
          </a:solidFill>
          <a:ln w="12700">
            <a:solidFill>
              <a:srgbClr val="C4472F"/>
            </a:solidFill>
            <a:prstDash val="solid"/>
          </a:ln>
        </p:spPr>
      </p:sp>
      <p:sp>
        <p:nvSpPr>
          <p:cNvPr id="21" name="Shape 19"/>
          <p:cNvSpPr/>
          <p:nvPr/>
        </p:nvSpPr>
        <p:spPr>
          <a:xfrm>
            <a:off x="6126480" y="2624328"/>
            <a:ext cx="310896" cy="310896"/>
          </a:xfrm>
          <a:prstGeom prst="ellipse">
            <a:avLst/>
          </a:prstGeom>
          <a:solidFill>
            <a:srgbClr val="3B4A8F"/>
          </a:solidFill>
          <a:ln w="12700">
            <a:solidFill>
              <a:srgbClr val="3B4A8F"/>
            </a:solidFill>
            <a:prstDash val="solid"/>
          </a:ln>
        </p:spPr>
      </p:sp>
      <p:sp>
        <p:nvSpPr>
          <p:cNvPr id="22" name="Shape 20"/>
          <p:cNvSpPr/>
          <p:nvPr/>
        </p:nvSpPr>
        <p:spPr>
          <a:xfrm>
            <a:off x="6620256" y="2624328"/>
            <a:ext cx="310896" cy="310896"/>
          </a:xfrm>
          <a:prstGeom prst="ellipse">
            <a:avLst/>
          </a:prstGeom>
          <a:solidFill>
            <a:srgbClr val="C4472F"/>
          </a:solidFill>
          <a:ln w="12700">
            <a:solidFill>
              <a:srgbClr val="C4472F"/>
            </a:solidFill>
            <a:prstDash val="solid"/>
          </a:ln>
        </p:spPr>
      </p:sp>
      <p:sp>
        <p:nvSpPr>
          <p:cNvPr id="23" name="Shape 21"/>
          <p:cNvSpPr/>
          <p:nvPr/>
        </p:nvSpPr>
        <p:spPr>
          <a:xfrm>
            <a:off x="7114032" y="2624328"/>
            <a:ext cx="310896" cy="310896"/>
          </a:xfrm>
          <a:prstGeom prst="ellipse">
            <a:avLst/>
          </a:prstGeom>
          <a:solidFill>
            <a:srgbClr val="3B4A8F"/>
          </a:solidFill>
          <a:ln w="12700">
            <a:solidFill>
              <a:srgbClr val="3B4A8F"/>
            </a:solidFill>
            <a:prstDash val="solid"/>
          </a:ln>
        </p:spPr>
      </p:sp>
      <p:sp>
        <p:nvSpPr>
          <p:cNvPr id="24" name="Shape 22"/>
          <p:cNvSpPr/>
          <p:nvPr/>
        </p:nvSpPr>
        <p:spPr>
          <a:xfrm>
            <a:off x="7607808" y="2624328"/>
            <a:ext cx="310896" cy="310896"/>
          </a:xfrm>
          <a:prstGeom prst="ellipse">
            <a:avLst/>
          </a:prstGeom>
          <a:solidFill>
            <a:srgbClr val="C4472F"/>
          </a:solidFill>
          <a:ln w="12700">
            <a:solidFill>
              <a:srgbClr val="C4472F"/>
            </a:solidFill>
            <a:prstDash val="solid"/>
          </a:ln>
        </p:spPr>
      </p:sp>
      <p:sp>
        <p:nvSpPr>
          <p:cNvPr id="25" name="Shape 23"/>
          <p:cNvSpPr/>
          <p:nvPr/>
        </p:nvSpPr>
        <p:spPr>
          <a:xfrm>
            <a:off x="8101584" y="2624328"/>
            <a:ext cx="310896" cy="310896"/>
          </a:xfrm>
          <a:prstGeom prst="ellipse">
            <a:avLst/>
          </a:prstGeom>
          <a:solidFill>
            <a:srgbClr val="3B4A8F"/>
          </a:solidFill>
          <a:ln w="12700">
            <a:solidFill>
              <a:srgbClr val="3B4A8F"/>
            </a:solidFill>
            <a:prstDash val="solid"/>
          </a:ln>
        </p:spPr>
      </p:sp>
      <p:sp>
        <p:nvSpPr>
          <p:cNvPr id="26" name="Shape 24"/>
          <p:cNvSpPr/>
          <p:nvPr/>
        </p:nvSpPr>
        <p:spPr>
          <a:xfrm>
            <a:off x="6126480" y="3118104"/>
            <a:ext cx="310896" cy="310896"/>
          </a:xfrm>
          <a:prstGeom prst="ellipse">
            <a:avLst/>
          </a:prstGeom>
          <a:solidFill>
            <a:srgbClr val="C4472F"/>
          </a:solidFill>
          <a:ln w="12700">
            <a:solidFill>
              <a:srgbClr val="C4472F"/>
            </a:solidFill>
            <a:prstDash val="solid"/>
          </a:ln>
        </p:spPr>
      </p:sp>
      <p:sp>
        <p:nvSpPr>
          <p:cNvPr id="27" name="Shape 25"/>
          <p:cNvSpPr/>
          <p:nvPr/>
        </p:nvSpPr>
        <p:spPr>
          <a:xfrm>
            <a:off x="6620256" y="3118104"/>
            <a:ext cx="310896" cy="310896"/>
          </a:xfrm>
          <a:prstGeom prst="ellipse">
            <a:avLst/>
          </a:prstGeom>
          <a:solidFill>
            <a:srgbClr val="3B4A8F"/>
          </a:solidFill>
          <a:ln w="12700">
            <a:solidFill>
              <a:srgbClr val="3B4A8F"/>
            </a:solidFill>
            <a:prstDash val="solid"/>
          </a:ln>
        </p:spPr>
      </p:sp>
      <p:sp>
        <p:nvSpPr>
          <p:cNvPr id="28" name="Shape 26"/>
          <p:cNvSpPr/>
          <p:nvPr/>
        </p:nvSpPr>
        <p:spPr>
          <a:xfrm>
            <a:off x="7114032" y="3118104"/>
            <a:ext cx="310896" cy="310896"/>
          </a:xfrm>
          <a:prstGeom prst="ellipse">
            <a:avLst/>
          </a:prstGeom>
          <a:solidFill>
            <a:srgbClr val="C4472F"/>
          </a:solidFill>
          <a:ln w="12700">
            <a:solidFill>
              <a:srgbClr val="C4472F"/>
            </a:solidFill>
            <a:prstDash val="solid"/>
          </a:ln>
        </p:spPr>
      </p:sp>
      <p:sp>
        <p:nvSpPr>
          <p:cNvPr id="29" name="Shape 27"/>
          <p:cNvSpPr/>
          <p:nvPr/>
        </p:nvSpPr>
        <p:spPr>
          <a:xfrm>
            <a:off x="7607808" y="3118104"/>
            <a:ext cx="310896" cy="310896"/>
          </a:xfrm>
          <a:prstGeom prst="ellipse">
            <a:avLst/>
          </a:prstGeom>
          <a:solidFill>
            <a:srgbClr val="3B4A8F"/>
          </a:solidFill>
          <a:ln w="12700">
            <a:solidFill>
              <a:srgbClr val="3B4A8F"/>
            </a:solidFill>
            <a:prstDash val="solid"/>
          </a:ln>
        </p:spPr>
      </p:sp>
      <p:sp>
        <p:nvSpPr>
          <p:cNvPr id="30" name="Shape 28"/>
          <p:cNvSpPr/>
          <p:nvPr/>
        </p:nvSpPr>
        <p:spPr>
          <a:xfrm>
            <a:off x="8101584" y="3118104"/>
            <a:ext cx="310896" cy="310896"/>
          </a:xfrm>
          <a:prstGeom prst="ellipse">
            <a:avLst/>
          </a:prstGeom>
          <a:solidFill>
            <a:srgbClr val="C4472F"/>
          </a:solidFill>
          <a:ln w="12700">
            <a:solidFill>
              <a:srgbClr val="C4472F"/>
            </a:solidFill>
            <a:prstDash val="solid"/>
          </a:ln>
        </p:spPr>
      </p:sp>
      <p:sp>
        <p:nvSpPr>
          <p:cNvPr id="31" name="Shape 29"/>
          <p:cNvSpPr/>
          <p:nvPr/>
        </p:nvSpPr>
        <p:spPr>
          <a:xfrm>
            <a:off x="6126480" y="3611880"/>
            <a:ext cx="310896" cy="310896"/>
          </a:xfrm>
          <a:prstGeom prst="ellipse">
            <a:avLst/>
          </a:prstGeom>
          <a:solidFill>
            <a:srgbClr val="3B4A8F"/>
          </a:solidFill>
          <a:ln w="12700">
            <a:solidFill>
              <a:srgbClr val="3B4A8F"/>
            </a:solidFill>
            <a:prstDash val="solid"/>
          </a:ln>
        </p:spPr>
      </p:sp>
      <p:sp>
        <p:nvSpPr>
          <p:cNvPr id="32" name="Shape 30"/>
          <p:cNvSpPr/>
          <p:nvPr/>
        </p:nvSpPr>
        <p:spPr>
          <a:xfrm>
            <a:off x="6620256" y="3611880"/>
            <a:ext cx="310896" cy="310896"/>
          </a:xfrm>
          <a:prstGeom prst="ellipse">
            <a:avLst/>
          </a:prstGeom>
          <a:solidFill>
            <a:srgbClr val="C4472F"/>
          </a:solidFill>
          <a:ln w="12700">
            <a:solidFill>
              <a:srgbClr val="C4472F"/>
            </a:solidFill>
            <a:prstDash val="solid"/>
          </a:ln>
        </p:spPr>
      </p:sp>
      <p:sp>
        <p:nvSpPr>
          <p:cNvPr id="33" name="Shape 31"/>
          <p:cNvSpPr/>
          <p:nvPr/>
        </p:nvSpPr>
        <p:spPr>
          <a:xfrm>
            <a:off x="7114032" y="3611880"/>
            <a:ext cx="310896" cy="310896"/>
          </a:xfrm>
          <a:prstGeom prst="ellipse">
            <a:avLst/>
          </a:prstGeom>
          <a:solidFill>
            <a:srgbClr val="3B4A8F"/>
          </a:solidFill>
          <a:ln w="12700">
            <a:solidFill>
              <a:srgbClr val="3B4A8F"/>
            </a:solidFill>
            <a:prstDash val="solid"/>
          </a:ln>
        </p:spPr>
      </p:sp>
      <p:sp>
        <p:nvSpPr>
          <p:cNvPr id="34" name="Shape 32"/>
          <p:cNvSpPr/>
          <p:nvPr/>
        </p:nvSpPr>
        <p:spPr>
          <a:xfrm>
            <a:off x="7607808" y="3611880"/>
            <a:ext cx="310896" cy="310896"/>
          </a:xfrm>
          <a:prstGeom prst="ellipse">
            <a:avLst/>
          </a:prstGeom>
          <a:solidFill>
            <a:srgbClr val="C4472F"/>
          </a:solidFill>
          <a:ln w="12700">
            <a:solidFill>
              <a:srgbClr val="C4472F"/>
            </a:solidFill>
            <a:prstDash val="solid"/>
          </a:ln>
        </p:spPr>
      </p:sp>
      <p:sp>
        <p:nvSpPr>
          <p:cNvPr id="35" name="Shape 33"/>
          <p:cNvSpPr/>
          <p:nvPr/>
        </p:nvSpPr>
        <p:spPr>
          <a:xfrm>
            <a:off x="8101584" y="3611880"/>
            <a:ext cx="310896" cy="310896"/>
          </a:xfrm>
          <a:prstGeom prst="ellipse">
            <a:avLst/>
          </a:prstGeom>
          <a:solidFill>
            <a:srgbClr val="3B4A8F"/>
          </a:solidFill>
          <a:ln w="12700">
            <a:solidFill>
              <a:srgbClr val="3B4A8F"/>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200" b="1" dirty="0">
                <a:solidFill>
                  <a:srgbClr val="1F2A5C"/>
                </a:solidFill>
                <a:latin typeface="Cambria" pitchFamily="34" charset="0"/>
                <a:ea typeface="Cambria" pitchFamily="34" charset="-122"/>
                <a:cs typeface="Cambria" pitchFamily="34" charset="-120"/>
              </a:rPr>
              <a:t>The problem</a:t>
            </a:r>
            <a:endParaRPr lang="en-US" sz="3200" dirty="0"/>
          </a:p>
        </p:txBody>
      </p:sp>
      <p:sp>
        <p:nvSpPr>
          <p:cNvPr id="3" name="Text 1"/>
          <p:cNvSpPr txBox="1"/>
          <p:nvPr/>
        </p:nvSpPr>
        <p:spPr>
          <a:xfrm>
            <a:off x="457200" y="1280160"/>
            <a:ext cx="4206240" cy="310896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2B2F45"/>
                </a:solidFill>
                <a:latin typeface="Calibri" pitchFamily="34" charset="0"/>
                <a:ea typeface="Calibri" pitchFamily="34" charset="-122"/>
                <a:cs typeface="Calibri" pitchFamily="34" charset="-120"/>
              </a:rPr>
              <a:t>To sell a handicraft online, every item needs a category, a title and a description</a:t>
            </a:r>
            <a:endParaRPr lang="en-US" sz="1800" dirty="0"/>
          </a:p>
          <a:p>
            <a:pPr marL="342900" indent="-342900">
              <a:spcAft>
                <a:spcPts val="800"/>
              </a:spcAft>
              <a:buSzPct val="100000"/>
              <a:buChar char="•"/>
            </a:pPr>
            <a:r>
              <a:rPr lang="en-US" sz="1800" dirty="0">
                <a:solidFill>
                  <a:srgbClr val="2B2F45"/>
                </a:solidFill>
                <a:latin typeface="Calibri" pitchFamily="34" charset="0"/>
                <a:ea typeface="Calibri" pitchFamily="34" charset="-122"/>
                <a:cs typeface="Calibri" pitchFamily="34" charset="-120"/>
              </a:rPr>
              <a:t>Writing these takes time and skill</a:t>
            </a:r>
            <a:endParaRPr lang="en-US" sz="1800" dirty="0"/>
          </a:p>
          <a:p>
            <a:pPr marL="342900" indent="-342900">
              <a:spcAft>
                <a:spcPts val="800"/>
              </a:spcAft>
              <a:buSzPct val="100000"/>
              <a:buChar char="•"/>
            </a:pPr>
            <a:r>
              <a:rPr lang="en-US" sz="1800" dirty="0">
                <a:solidFill>
                  <a:srgbClr val="2B2F45"/>
                </a:solidFill>
                <a:latin typeface="Calibri" pitchFamily="34" charset="0"/>
                <a:ea typeface="Calibri" pitchFamily="34" charset="-122"/>
                <a:cs typeface="Calibri" pitchFamily="34" charset="-120"/>
              </a:rPr>
              <a:t>Small artisans often find this hard</a:t>
            </a:r>
            <a:endParaRPr lang="en-US" sz="1800" dirty="0"/>
          </a:p>
        </p:txBody>
      </p:sp>
      <p:sp>
        <p:nvSpPr>
          <p:cNvPr id="4" name="Shape 2"/>
          <p:cNvSpPr/>
          <p:nvPr/>
        </p:nvSpPr>
        <p:spPr>
          <a:xfrm>
            <a:off x="5029200" y="1280160"/>
            <a:ext cx="3657600" cy="868680"/>
          </a:xfrm>
          <a:prstGeom prst="roundRect">
            <a:avLst>
              <a:gd name="adj" fmla="val 8421"/>
            </a:avLst>
          </a:prstGeom>
          <a:solidFill>
            <a:srgbClr val="EEF0F8"/>
          </a:solidFill>
          <a:ln w="12700">
            <a:solidFill>
              <a:srgbClr val="EEF0F8"/>
            </a:solidFill>
            <a:prstDash val="solid"/>
          </a:ln>
        </p:spPr>
      </p:sp>
      <p:sp>
        <p:nvSpPr>
          <p:cNvPr id="5" name="Text 3"/>
          <p:cNvSpPr txBox="1"/>
          <p:nvPr/>
        </p:nvSpPr>
        <p:spPr>
          <a:xfrm>
            <a:off x="5303520" y="1280160"/>
            <a:ext cx="2103120" cy="868680"/>
          </a:xfrm>
          <a:prstGeom prst="rect">
            <a:avLst/>
          </a:prstGeom>
          <a:noFill/>
          <a:ln/>
        </p:spPr>
        <p:txBody>
          <a:bodyPr wrap="square" lIns="0" tIns="0" rIns="0" bIns="0" rtlCol="0" anchor="ctr"/>
          <a:lstStyle/>
          <a:p>
            <a:pPr indent="0" marL="0">
              <a:buNone/>
            </a:pPr>
            <a:r>
              <a:rPr lang="en-US" sz="1800" b="1" dirty="0">
                <a:solidFill>
                  <a:srgbClr val="2B2F45"/>
                </a:solidFill>
                <a:latin typeface="Calibri" pitchFamily="34" charset="0"/>
                <a:ea typeface="Calibri" pitchFamily="34" charset="-122"/>
                <a:cs typeface="Calibri" pitchFamily="34" charset="-120"/>
              </a:rPr>
              <a:t>Category</a:t>
            </a:r>
            <a:endParaRPr lang="en-US" sz="1800" dirty="0"/>
          </a:p>
        </p:txBody>
      </p:sp>
      <p:sp>
        <p:nvSpPr>
          <p:cNvPr id="6" name="Text 4"/>
          <p:cNvSpPr txBox="1"/>
          <p:nvPr/>
        </p:nvSpPr>
        <p:spPr>
          <a:xfrm>
            <a:off x="7680960" y="1280160"/>
            <a:ext cx="731520" cy="868680"/>
          </a:xfrm>
          <a:prstGeom prst="rect">
            <a:avLst/>
          </a:prstGeom>
          <a:noFill/>
          <a:ln/>
        </p:spPr>
        <p:txBody>
          <a:bodyPr wrap="square" lIns="0" tIns="0" rIns="0" bIns="0" rtlCol="0" anchor="ctr"/>
          <a:lstStyle/>
          <a:p>
            <a:pPr algn="ctr" indent="0" marL="0">
              <a:buNone/>
            </a:pPr>
            <a:r>
              <a:rPr lang="en-US" sz="3600" b="1" dirty="0">
                <a:solidFill>
                  <a:srgbClr val="C4472F"/>
                </a:solidFill>
                <a:latin typeface="Cambria" pitchFamily="34" charset="0"/>
                <a:ea typeface="Cambria" pitchFamily="34" charset="-122"/>
                <a:cs typeface="Cambria" pitchFamily="34" charset="-120"/>
              </a:rPr>
              <a:t>?</a:t>
            </a:r>
            <a:endParaRPr lang="en-US" sz="3600" dirty="0"/>
          </a:p>
        </p:txBody>
      </p:sp>
      <p:sp>
        <p:nvSpPr>
          <p:cNvPr id="7" name="Shape 5"/>
          <p:cNvSpPr/>
          <p:nvPr/>
        </p:nvSpPr>
        <p:spPr>
          <a:xfrm>
            <a:off x="5029200" y="2331720"/>
            <a:ext cx="3657600" cy="868680"/>
          </a:xfrm>
          <a:prstGeom prst="roundRect">
            <a:avLst>
              <a:gd name="adj" fmla="val 8421"/>
            </a:avLst>
          </a:prstGeom>
          <a:solidFill>
            <a:srgbClr val="EEF0F8"/>
          </a:solidFill>
          <a:ln w="12700">
            <a:solidFill>
              <a:srgbClr val="EEF0F8"/>
            </a:solidFill>
            <a:prstDash val="solid"/>
          </a:ln>
        </p:spPr>
      </p:sp>
      <p:sp>
        <p:nvSpPr>
          <p:cNvPr id="8" name="Text 6"/>
          <p:cNvSpPr txBox="1"/>
          <p:nvPr/>
        </p:nvSpPr>
        <p:spPr>
          <a:xfrm>
            <a:off x="5303520" y="2331720"/>
            <a:ext cx="2103120" cy="868680"/>
          </a:xfrm>
          <a:prstGeom prst="rect">
            <a:avLst/>
          </a:prstGeom>
          <a:noFill/>
          <a:ln/>
        </p:spPr>
        <p:txBody>
          <a:bodyPr wrap="square" lIns="0" tIns="0" rIns="0" bIns="0" rtlCol="0" anchor="ctr"/>
          <a:lstStyle/>
          <a:p>
            <a:pPr indent="0" marL="0">
              <a:buNone/>
            </a:pPr>
            <a:r>
              <a:rPr lang="en-US" sz="1800" b="1" dirty="0">
                <a:solidFill>
                  <a:srgbClr val="2B2F45"/>
                </a:solidFill>
                <a:latin typeface="Calibri" pitchFamily="34" charset="0"/>
                <a:ea typeface="Calibri" pitchFamily="34" charset="-122"/>
                <a:cs typeface="Calibri" pitchFamily="34" charset="-120"/>
              </a:rPr>
              <a:t>Title</a:t>
            </a:r>
            <a:endParaRPr lang="en-US" sz="1800" dirty="0"/>
          </a:p>
        </p:txBody>
      </p:sp>
      <p:sp>
        <p:nvSpPr>
          <p:cNvPr id="9" name="Text 7"/>
          <p:cNvSpPr txBox="1"/>
          <p:nvPr/>
        </p:nvSpPr>
        <p:spPr>
          <a:xfrm>
            <a:off x="7680960" y="2331720"/>
            <a:ext cx="731520" cy="868680"/>
          </a:xfrm>
          <a:prstGeom prst="rect">
            <a:avLst/>
          </a:prstGeom>
          <a:noFill/>
          <a:ln/>
        </p:spPr>
        <p:txBody>
          <a:bodyPr wrap="square" lIns="0" tIns="0" rIns="0" bIns="0" rtlCol="0" anchor="ctr"/>
          <a:lstStyle/>
          <a:p>
            <a:pPr algn="ctr" indent="0" marL="0">
              <a:buNone/>
            </a:pPr>
            <a:r>
              <a:rPr lang="en-US" sz="3600" b="1" dirty="0">
                <a:solidFill>
                  <a:srgbClr val="C4472F"/>
                </a:solidFill>
                <a:latin typeface="Cambria" pitchFamily="34" charset="0"/>
                <a:ea typeface="Cambria" pitchFamily="34" charset="-122"/>
                <a:cs typeface="Cambria" pitchFamily="34" charset="-120"/>
              </a:rPr>
              <a:t>?</a:t>
            </a:r>
            <a:endParaRPr lang="en-US" sz="3600" dirty="0"/>
          </a:p>
        </p:txBody>
      </p:sp>
      <p:sp>
        <p:nvSpPr>
          <p:cNvPr id="10" name="Shape 8"/>
          <p:cNvSpPr/>
          <p:nvPr/>
        </p:nvSpPr>
        <p:spPr>
          <a:xfrm>
            <a:off x="5029200" y="3383280"/>
            <a:ext cx="3657600" cy="868680"/>
          </a:xfrm>
          <a:prstGeom prst="roundRect">
            <a:avLst>
              <a:gd name="adj" fmla="val 8421"/>
            </a:avLst>
          </a:prstGeom>
          <a:solidFill>
            <a:srgbClr val="EEF0F8"/>
          </a:solidFill>
          <a:ln w="12700">
            <a:solidFill>
              <a:srgbClr val="EEF0F8"/>
            </a:solidFill>
            <a:prstDash val="solid"/>
          </a:ln>
        </p:spPr>
      </p:sp>
      <p:sp>
        <p:nvSpPr>
          <p:cNvPr id="11" name="Text 9"/>
          <p:cNvSpPr txBox="1"/>
          <p:nvPr/>
        </p:nvSpPr>
        <p:spPr>
          <a:xfrm>
            <a:off x="5303520" y="3383280"/>
            <a:ext cx="2103120" cy="868680"/>
          </a:xfrm>
          <a:prstGeom prst="rect">
            <a:avLst/>
          </a:prstGeom>
          <a:noFill/>
          <a:ln/>
        </p:spPr>
        <p:txBody>
          <a:bodyPr wrap="square" lIns="0" tIns="0" rIns="0" bIns="0" rtlCol="0" anchor="ctr"/>
          <a:lstStyle/>
          <a:p>
            <a:pPr indent="0" marL="0">
              <a:buNone/>
            </a:pPr>
            <a:r>
              <a:rPr lang="en-US" sz="1800" b="1" dirty="0">
                <a:solidFill>
                  <a:srgbClr val="2B2F45"/>
                </a:solidFill>
                <a:latin typeface="Calibri" pitchFamily="34" charset="0"/>
                <a:ea typeface="Calibri" pitchFamily="34" charset="-122"/>
                <a:cs typeface="Calibri" pitchFamily="34" charset="-120"/>
              </a:rPr>
              <a:t>Description</a:t>
            </a:r>
            <a:endParaRPr lang="en-US" sz="1800" dirty="0"/>
          </a:p>
        </p:txBody>
      </p:sp>
      <p:sp>
        <p:nvSpPr>
          <p:cNvPr id="12" name="Text 10"/>
          <p:cNvSpPr txBox="1"/>
          <p:nvPr/>
        </p:nvSpPr>
        <p:spPr>
          <a:xfrm>
            <a:off x="7680960" y="3383280"/>
            <a:ext cx="731520" cy="868680"/>
          </a:xfrm>
          <a:prstGeom prst="rect">
            <a:avLst/>
          </a:prstGeom>
          <a:noFill/>
          <a:ln/>
        </p:spPr>
        <p:txBody>
          <a:bodyPr wrap="square" lIns="0" tIns="0" rIns="0" bIns="0" rtlCol="0" anchor="ctr"/>
          <a:lstStyle/>
          <a:p>
            <a:pPr algn="ctr" indent="0" marL="0">
              <a:buNone/>
            </a:pPr>
            <a:r>
              <a:rPr lang="en-US" sz="3600" b="1" dirty="0">
                <a:solidFill>
                  <a:srgbClr val="C4472F"/>
                </a:solidFill>
                <a:latin typeface="Cambria" pitchFamily="34" charset="0"/>
                <a:ea typeface="Cambria" pitchFamily="34" charset="-122"/>
                <a:cs typeface="Cambria" pitchFamily="34" charset="-120"/>
              </a:rPr>
              <a:t>?</a:t>
            </a:r>
            <a:endParaRPr lang="en-US" sz="36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7A7F99"/>
                </a:solidFill>
                <a:latin typeface="Calibri"/>
                <a:ea typeface="Calibri"/>
                <a:cs typeface="Calibri"/>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200" b="1" dirty="0">
                <a:solidFill>
                  <a:srgbClr val="1F2A5C"/>
                </a:solidFill>
                <a:latin typeface="Cambria" pitchFamily="34" charset="0"/>
                <a:ea typeface="Cambria" pitchFamily="34" charset="-122"/>
                <a:cs typeface="Cambria" pitchFamily="34" charset="-120"/>
              </a:rPr>
              <a:t>Our idea</a:t>
            </a:r>
            <a:endParaRPr lang="en-US" sz="3200" dirty="0"/>
          </a:p>
        </p:txBody>
      </p:sp>
      <p:sp>
        <p:nvSpPr>
          <p:cNvPr id="3" name="Shape 1"/>
          <p:cNvSpPr/>
          <p:nvPr/>
        </p:nvSpPr>
        <p:spPr>
          <a:xfrm>
            <a:off x="457200" y="1280160"/>
            <a:ext cx="2468880" cy="2103120"/>
          </a:xfrm>
          <a:prstGeom prst="roundRect">
            <a:avLst>
              <a:gd name="adj" fmla="val 3478"/>
            </a:avLst>
          </a:prstGeom>
          <a:solidFill>
            <a:srgbClr val="EEF0F8"/>
          </a:solidFill>
          <a:ln w="12700">
            <a:solidFill>
              <a:srgbClr val="EEF0F8"/>
            </a:solidFill>
            <a:prstDash val="solid"/>
          </a:ln>
        </p:spPr>
      </p:sp>
      <p:sp>
        <p:nvSpPr>
          <p:cNvPr id="4" name="Text 2"/>
          <p:cNvSpPr txBox="1"/>
          <p:nvPr/>
        </p:nvSpPr>
        <p:spPr>
          <a:xfrm>
            <a:off x="640080" y="1417320"/>
            <a:ext cx="2103120" cy="457200"/>
          </a:xfrm>
          <a:prstGeom prst="rect">
            <a:avLst/>
          </a:prstGeom>
          <a:noFill/>
          <a:ln/>
        </p:spPr>
        <p:txBody>
          <a:bodyPr wrap="square" lIns="0" tIns="0" rIns="0" bIns="0" rtlCol="0" anchor="ctr"/>
          <a:lstStyle/>
          <a:p>
            <a:pPr indent="0" marL="0">
              <a:buNone/>
            </a:pPr>
            <a:r>
              <a:rPr lang="en-US" sz="2200" b="1" dirty="0">
                <a:solidFill>
                  <a:srgbClr val="1F2A5C"/>
                </a:solidFill>
                <a:latin typeface="Cambria" pitchFamily="34" charset="0"/>
                <a:ea typeface="Cambria" pitchFamily="34" charset="-122"/>
                <a:cs typeface="Cambria" pitchFamily="34" charset="-120"/>
              </a:rPr>
              <a:t>Photo</a:t>
            </a:r>
            <a:endParaRPr lang="en-US" sz="2200" dirty="0"/>
          </a:p>
        </p:txBody>
      </p:sp>
      <p:sp>
        <p:nvSpPr>
          <p:cNvPr id="5" name="Text 3"/>
          <p:cNvSpPr txBox="1"/>
          <p:nvPr/>
        </p:nvSpPr>
        <p:spPr>
          <a:xfrm>
            <a:off x="640080" y="1965960"/>
            <a:ext cx="2103120" cy="1280160"/>
          </a:xfrm>
          <a:prstGeom prst="rect">
            <a:avLst/>
          </a:prstGeom>
          <a:noFill/>
          <a:ln/>
        </p:spPr>
        <p:txBody>
          <a:bodyPr wrap="square" lIns="0" tIns="0" rIns="0" bIns="0" rtlCol="0" anchor="t"/>
          <a:lstStyle/>
          <a:p>
            <a:pPr indent="0" marL="0">
              <a:buNone/>
            </a:pPr>
            <a:r>
              <a:rPr lang="en-US" sz="1600" dirty="0">
                <a:solidFill>
                  <a:srgbClr val="2B2F45"/>
                </a:solidFill>
                <a:latin typeface="Calibri" pitchFamily="34" charset="0"/>
                <a:ea typeface="Calibri" pitchFamily="34" charset="-122"/>
                <a:cs typeface="Calibri" pitchFamily="34" charset="-120"/>
              </a:rPr>
              <a:t>The seller uploads one picture of the product</a:t>
            </a:r>
            <a:endParaRPr lang="en-US" sz="1600" dirty="0"/>
          </a:p>
        </p:txBody>
      </p:sp>
      <p:sp>
        <p:nvSpPr>
          <p:cNvPr id="6" name="Shape 4"/>
          <p:cNvSpPr/>
          <p:nvPr/>
        </p:nvSpPr>
        <p:spPr>
          <a:xfrm>
            <a:off x="2980944" y="2176272"/>
            <a:ext cx="301752" cy="310896"/>
          </a:xfrm>
          <a:prstGeom prst="rightArrow">
            <a:avLst/>
          </a:prstGeom>
          <a:solidFill>
            <a:srgbClr val="C4472F"/>
          </a:solidFill>
          <a:ln w="12700">
            <a:solidFill>
              <a:srgbClr val="C4472F"/>
            </a:solidFill>
            <a:prstDash val="solid"/>
          </a:ln>
        </p:spPr>
      </p:sp>
      <p:sp>
        <p:nvSpPr>
          <p:cNvPr id="7" name="Shape 5"/>
          <p:cNvSpPr/>
          <p:nvPr/>
        </p:nvSpPr>
        <p:spPr>
          <a:xfrm>
            <a:off x="3337560" y="1280160"/>
            <a:ext cx="2468880" cy="2103120"/>
          </a:xfrm>
          <a:prstGeom prst="roundRect">
            <a:avLst>
              <a:gd name="adj" fmla="val 3478"/>
            </a:avLst>
          </a:prstGeom>
          <a:solidFill>
            <a:srgbClr val="EEF0F8"/>
          </a:solidFill>
          <a:ln w="12700">
            <a:solidFill>
              <a:srgbClr val="EEF0F8"/>
            </a:solidFill>
            <a:prstDash val="solid"/>
          </a:ln>
        </p:spPr>
      </p:sp>
      <p:sp>
        <p:nvSpPr>
          <p:cNvPr id="8" name="Text 6"/>
          <p:cNvSpPr txBox="1"/>
          <p:nvPr/>
        </p:nvSpPr>
        <p:spPr>
          <a:xfrm>
            <a:off x="3520440" y="1417320"/>
            <a:ext cx="2103120" cy="457200"/>
          </a:xfrm>
          <a:prstGeom prst="rect">
            <a:avLst/>
          </a:prstGeom>
          <a:noFill/>
          <a:ln/>
        </p:spPr>
        <p:txBody>
          <a:bodyPr wrap="square" lIns="0" tIns="0" rIns="0" bIns="0" rtlCol="0" anchor="ctr"/>
          <a:lstStyle/>
          <a:p>
            <a:pPr indent="0" marL="0">
              <a:buNone/>
            </a:pPr>
            <a:r>
              <a:rPr lang="en-US" sz="2200" b="1" dirty="0">
                <a:solidFill>
                  <a:srgbClr val="1F2A5C"/>
                </a:solidFill>
                <a:latin typeface="Cambria" pitchFamily="34" charset="0"/>
                <a:ea typeface="Cambria" pitchFamily="34" charset="-122"/>
                <a:cs typeface="Cambria" pitchFamily="34" charset="-120"/>
              </a:rPr>
              <a:t>Model</a:t>
            </a:r>
            <a:endParaRPr lang="en-US" sz="2200" dirty="0"/>
          </a:p>
        </p:txBody>
      </p:sp>
      <p:sp>
        <p:nvSpPr>
          <p:cNvPr id="9" name="Text 7"/>
          <p:cNvSpPr txBox="1"/>
          <p:nvPr/>
        </p:nvSpPr>
        <p:spPr>
          <a:xfrm>
            <a:off x="3520440" y="1965960"/>
            <a:ext cx="2103120" cy="1280160"/>
          </a:xfrm>
          <a:prstGeom prst="rect">
            <a:avLst/>
          </a:prstGeom>
          <a:noFill/>
          <a:ln/>
        </p:spPr>
        <p:txBody>
          <a:bodyPr wrap="square" lIns="0" tIns="0" rIns="0" bIns="0" rtlCol="0" anchor="t"/>
          <a:lstStyle/>
          <a:p>
            <a:pPr indent="0" marL="0">
              <a:buNone/>
            </a:pPr>
            <a:r>
              <a:rPr lang="en-US" sz="1600" dirty="0">
                <a:solidFill>
                  <a:srgbClr val="2B2F45"/>
                </a:solidFill>
                <a:latin typeface="Calibri" pitchFamily="34" charset="0"/>
                <a:ea typeface="Calibri" pitchFamily="34" charset="-122"/>
                <a:cs typeface="Calibri" pitchFamily="34" charset="-120"/>
              </a:rPr>
              <a:t>A deep learning model predicts the craft style</a:t>
            </a:r>
            <a:endParaRPr lang="en-US" sz="1600" dirty="0"/>
          </a:p>
        </p:txBody>
      </p:sp>
      <p:sp>
        <p:nvSpPr>
          <p:cNvPr id="10" name="Shape 8"/>
          <p:cNvSpPr/>
          <p:nvPr/>
        </p:nvSpPr>
        <p:spPr>
          <a:xfrm>
            <a:off x="5861304" y="2176272"/>
            <a:ext cx="301752" cy="310896"/>
          </a:xfrm>
          <a:prstGeom prst="rightArrow">
            <a:avLst/>
          </a:prstGeom>
          <a:solidFill>
            <a:srgbClr val="C4472F"/>
          </a:solidFill>
          <a:ln w="12700">
            <a:solidFill>
              <a:srgbClr val="C4472F"/>
            </a:solidFill>
            <a:prstDash val="solid"/>
          </a:ln>
        </p:spPr>
      </p:sp>
      <p:sp>
        <p:nvSpPr>
          <p:cNvPr id="11" name="Shape 9"/>
          <p:cNvSpPr/>
          <p:nvPr/>
        </p:nvSpPr>
        <p:spPr>
          <a:xfrm>
            <a:off x="6217920" y="1280160"/>
            <a:ext cx="2468880" cy="2103120"/>
          </a:xfrm>
          <a:prstGeom prst="roundRect">
            <a:avLst>
              <a:gd name="adj" fmla="val 3478"/>
            </a:avLst>
          </a:prstGeom>
          <a:solidFill>
            <a:srgbClr val="EEF0F8"/>
          </a:solidFill>
          <a:ln w="12700">
            <a:solidFill>
              <a:srgbClr val="EEF0F8"/>
            </a:solidFill>
            <a:prstDash val="solid"/>
          </a:ln>
        </p:spPr>
      </p:sp>
      <p:sp>
        <p:nvSpPr>
          <p:cNvPr id="12" name="Text 10"/>
          <p:cNvSpPr txBox="1"/>
          <p:nvPr/>
        </p:nvSpPr>
        <p:spPr>
          <a:xfrm>
            <a:off x="6400800" y="1417320"/>
            <a:ext cx="2103120" cy="457200"/>
          </a:xfrm>
          <a:prstGeom prst="rect">
            <a:avLst/>
          </a:prstGeom>
          <a:noFill/>
          <a:ln/>
        </p:spPr>
        <p:txBody>
          <a:bodyPr wrap="square" lIns="0" tIns="0" rIns="0" bIns="0" rtlCol="0" anchor="ctr"/>
          <a:lstStyle/>
          <a:p>
            <a:pPr indent="0" marL="0">
              <a:buNone/>
            </a:pPr>
            <a:r>
              <a:rPr lang="en-US" sz="2200" b="1" dirty="0">
                <a:solidFill>
                  <a:srgbClr val="1F2A5C"/>
                </a:solidFill>
                <a:latin typeface="Cambria" pitchFamily="34" charset="0"/>
                <a:ea typeface="Cambria" pitchFamily="34" charset="-122"/>
                <a:cs typeface="Cambria" pitchFamily="34" charset="-120"/>
              </a:rPr>
              <a:t>Catalog card</a:t>
            </a:r>
            <a:endParaRPr lang="en-US" sz="2200" dirty="0"/>
          </a:p>
        </p:txBody>
      </p:sp>
      <p:sp>
        <p:nvSpPr>
          <p:cNvPr id="13" name="Text 11"/>
          <p:cNvSpPr txBox="1"/>
          <p:nvPr/>
        </p:nvSpPr>
        <p:spPr>
          <a:xfrm>
            <a:off x="6400800" y="1965960"/>
            <a:ext cx="2103120" cy="1280160"/>
          </a:xfrm>
          <a:prstGeom prst="rect">
            <a:avLst/>
          </a:prstGeom>
          <a:noFill/>
          <a:ln/>
        </p:spPr>
        <p:txBody>
          <a:bodyPr wrap="square" lIns="0" tIns="0" rIns="0" bIns="0" rtlCol="0" anchor="t"/>
          <a:lstStyle/>
          <a:p>
            <a:pPr indent="0" marL="0">
              <a:buNone/>
            </a:pPr>
            <a:r>
              <a:rPr lang="en-US" sz="1600" dirty="0">
                <a:solidFill>
                  <a:srgbClr val="2B2F45"/>
                </a:solidFill>
                <a:latin typeface="Calibri" pitchFamily="34" charset="0"/>
                <a:ea typeface="Calibri" pitchFamily="34" charset="-122"/>
                <a:cs typeface="Calibri" pitchFamily="34" charset="-120"/>
              </a:rPr>
              <a:t>Name, category, description and tags are filled in</a:t>
            </a:r>
            <a:endParaRPr lang="en-US" sz="1600" dirty="0"/>
          </a:p>
        </p:txBody>
      </p:sp>
      <p:sp>
        <p:nvSpPr>
          <p:cNvPr id="14" name="Text 12"/>
          <p:cNvSpPr txBox="1"/>
          <p:nvPr/>
        </p:nvSpPr>
        <p:spPr>
          <a:xfrm>
            <a:off x="457200" y="3749040"/>
            <a:ext cx="8229600" cy="640080"/>
          </a:xfrm>
          <a:prstGeom prst="rect">
            <a:avLst/>
          </a:prstGeom>
          <a:noFill/>
          <a:ln/>
        </p:spPr>
        <p:txBody>
          <a:bodyPr wrap="square" lIns="0" tIns="0" rIns="0" bIns="0" rtlCol="0" anchor="t"/>
          <a:lstStyle/>
          <a:p>
            <a:pPr indent="0" marL="0">
              <a:buNone/>
            </a:pPr>
            <a:r>
              <a:rPr lang="en-US" sz="1600" dirty="0">
                <a:solidFill>
                  <a:srgbClr val="2B2F45"/>
                </a:solidFill>
                <a:latin typeface="Calibri" pitchFamily="34" charset="0"/>
                <a:ea typeface="Calibri" pitchFamily="34" charset="-122"/>
                <a:cs typeface="Calibri" pitchFamily="34" charset="-120"/>
              </a:rPr>
              <a:t>This is the smart-cataloging step of the ShilpSetu AI idea, built as a deep learning lab project.</a:t>
            </a:r>
            <a:endParaRPr lang="en-US" sz="16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7A7F99"/>
                </a:solidFill>
                <a:latin typeface="Calibri"/>
                <a:ea typeface="Calibri"/>
                <a:cs typeface="Calibri"/>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200" b="1" dirty="0">
                <a:solidFill>
                  <a:srgbClr val="1F2A5C"/>
                </a:solidFill>
                <a:latin typeface="Cambria" pitchFamily="34" charset="0"/>
                <a:ea typeface="Cambria" pitchFamily="34" charset="-122"/>
                <a:cs typeface="Cambria" pitchFamily="34" charset="-120"/>
              </a:rPr>
              <a:t>The dataset</a:t>
            </a:r>
            <a:endParaRPr lang="en-US" sz="3200" dirty="0"/>
          </a:p>
        </p:txBody>
      </p:sp>
      <p:sp>
        <p:nvSpPr>
          <p:cNvPr id="3" name="Text 1"/>
          <p:cNvSpPr txBox="1"/>
          <p:nvPr/>
        </p:nvSpPr>
        <p:spPr>
          <a:xfrm>
            <a:off x="457200" y="1280160"/>
            <a:ext cx="4754880" cy="310896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2B2F45"/>
                </a:solidFill>
                <a:latin typeface="Calibri" pitchFamily="34" charset="0"/>
                <a:ea typeface="Calibri" pitchFamily="34" charset="-122"/>
                <a:cs typeface="Calibri" pitchFamily="34" charset="-120"/>
              </a:rPr>
              <a:t>Indian Handicraft Products, from Kaggle</a:t>
            </a:r>
            <a:endParaRPr lang="en-US" sz="1800" dirty="0"/>
          </a:p>
          <a:p>
            <a:pPr marL="342900" indent="-342900">
              <a:spcAft>
                <a:spcPts val="800"/>
              </a:spcAft>
              <a:buSzPct val="100000"/>
              <a:buChar char="•"/>
            </a:pPr>
            <a:r>
              <a:rPr lang="en-US" sz="1800" dirty="0">
                <a:solidFill>
                  <a:srgbClr val="2B2F45"/>
                </a:solidFill>
                <a:latin typeface="Calibri" pitchFamily="34" charset="0"/>
                <a:ea typeface="Calibri" pitchFamily="34" charset="-122"/>
                <a:cs typeface="Calibri" pitchFamily="34" charset="-120"/>
              </a:rPr>
              <a:t>Product listings from the web, each with a photo</a:t>
            </a:r>
            <a:endParaRPr lang="en-US" sz="1800" dirty="0"/>
          </a:p>
          <a:p>
            <a:pPr marL="342900" indent="-342900">
              <a:spcAft>
                <a:spcPts val="800"/>
              </a:spcAft>
              <a:buSzPct val="100000"/>
              <a:buChar char="•"/>
            </a:pPr>
            <a:r>
              <a:rPr lang="en-US" sz="1800" dirty="0">
                <a:solidFill>
                  <a:srgbClr val="2B2F45"/>
                </a:solidFill>
                <a:latin typeface="Calibri" pitchFamily="34" charset="0"/>
                <a:ea typeface="Calibri" pitchFamily="34" charset="-122"/>
                <a:cs typeface="Calibri" pitchFamily="34" charset="-120"/>
              </a:rPr>
              <a:t>Fields: title, description, price, image and art form</a:t>
            </a:r>
            <a:endParaRPr lang="en-US" sz="1800" dirty="0"/>
          </a:p>
          <a:p>
            <a:pPr marL="342900" indent="-342900">
              <a:spcAft>
                <a:spcPts val="800"/>
              </a:spcAft>
              <a:buSzPct val="100000"/>
              <a:buChar char="•"/>
            </a:pPr>
            <a:r>
              <a:rPr lang="en-US" sz="1800" dirty="0">
                <a:solidFill>
                  <a:srgbClr val="2B2F45"/>
                </a:solidFill>
                <a:latin typeface="Calibri" pitchFamily="34" charset="0"/>
                <a:ea typeface="Calibri" pitchFamily="34" charset="-122"/>
                <a:cs typeface="Calibri" pitchFamily="34" charset="-120"/>
              </a:rPr>
              <a:t>The art form is what we want the model to predict</a:t>
            </a:r>
            <a:endParaRPr lang="en-US" sz="1800" dirty="0"/>
          </a:p>
        </p:txBody>
      </p:sp>
      <p:sp>
        <p:nvSpPr>
          <p:cNvPr id="4" name="Shape 2"/>
          <p:cNvSpPr/>
          <p:nvPr/>
        </p:nvSpPr>
        <p:spPr>
          <a:xfrm>
            <a:off x="5760720" y="1371600"/>
            <a:ext cx="2926080" cy="2011680"/>
          </a:xfrm>
          <a:prstGeom prst="roundRect">
            <a:avLst>
              <a:gd name="adj" fmla="val 3636"/>
            </a:avLst>
          </a:prstGeom>
          <a:solidFill>
            <a:srgbClr val="EEF0F8"/>
          </a:solidFill>
          <a:ln w="12700">
            <a:solidFill>
              <a:srgbClr val="EEF0F8"/>
            </a:solidFill>
            <a:prstDash val="solid"/>
          </a:ln>
        </p:spPr>
      </p:sp>
      <p:sp>
        <p:nvSpPr>
          <p:cNvPr id="5" name="Text 3"/>
          <p:cNvSpPr txBox="1"/>
          <p:nvPr/>
        </p:nvSpPr>
        <p:spPr>
          <a:xfrm>
            <a:off x="5760720" y="1463040"/>
            <a:ext cx="2926080" cy="1046074"/>
          </a:xfrm>
          <a:prstGeom prst="rect">
            <a:avLst/>
          </a:prstGeom>
          <a:noFill/>
          <a:ln/>
        </p:spPr>
        <p:txBody>
          <a:bodyPr wrap="square" lIns="0" tIns="0" rIns="0" bIns="0" rtlCol="0" anchor="ctr"/>
          <a:lstStyle/>
          <a:p>
            <a:pPr algn="ctr" indent="0" marL="0">
              <a:buNone/>
            </a:pPr>
            <a:r>
              <a:rPr lang="en-US" sz="3600" b="1" dirty="0">
                <a:solidFill>
                  <a:srgbClr val="C4472F"/>
                </a:solidFill>
                <a:latin typeface="Cambria" pitchFamily="34" charset="0"/>
                <a:ea typeface="Cambria" pitchFamily="34" charset="-122"/>
                <a:cs typeface="Cambria" pitchFamily="34" charset="-120"/>
              </a:rPr>
              <a:t>37,273</a:t>
            </a:r>
            <a:endParaRPr lang="en-US" sz="3600" dirty="0"/>
          </a:p>
        </p:txBody>
      </p:sp>
      <p:sp>
        <p:nvSpPr>
          <p:cNvPr id="6" name="Text 4"/>
          <p:cNvSpPr txBox="1"/>
          <p:nvPr/>
        </p:nvSpPr>
        <p:spPr>
          <a:xfrm>
            <a:off x="5852160" y="2538374"/>
            <a:ext cx="2743200" cy="764438"/>
          </a:xfrm>
          <a:prstGeom prst="rect">
            <a:avLst/>
          </a:prstGeom>
          <a:noFill/>
          <a:ln/>
        </p:spPr>
        <p:txBody>
          <a:bodyPr wrap="square" lIns="0" tIns="0" rIns="0" bIns="0" rtlCol="0" anchor="t"/>
          <a:lstStyle/>
          <a:p>
            <a:pPr algn="ctr" indent="0" marL="0">
              <a:buNone/>
            </a:pPr>
            <a:r>
              <a:rPr lang="en-US" sz="1400" dirty="0">
                <a:solidFill>
                  <a:srgbClr val="2B2F45"/>
                </a:solidFill>
                <a:latin typeface="Calibri" pitchFamily="34" charset="0"/>
                <a:ea typeface="Calibri" pitchFamily="34" charset="-122"/>
                <a:cs typeface="Calibri" pitchFamily="34" charset="-120"/>
              </a:rPr>
              <a:t>product listings</a:t>
            </a:r>
            <a:endParaRPr lang="en-US" sz="14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7A7F99"/>
                </a:solidFill>
                <a:latin typeface="Calibri"/>
                <a:ea typeface="Calibri"/>
                <a:cs typeface="Calibri"/>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200" b="1" dirty="0">
                <a:solidFill>
                  <a:srgbClr val="1F2A5C"/>
                </a:solidFill>
                <a:latin typeface="Cambria" pitchFamily="34" charset="0"/>
                <a:ea typeface="Cambria" pitchFamily="34" charset="-122"/>
                <a:cs typeface="Cambria" pitchFamily="34" charset="-120"/>
              </a:rPr>
              <a:t>Preparing the data</a:t>
            </a:r>
            <a:endParaRPr lang="en-US" sz="3200" dirty="0"/>
          </a:p>
        </p:txBody>
      </p:sp>
      <p:sp>
        <p:nvSpPr>
          <p:cNvPr id="3" name="Shape 1"/>
          <p:cNvSpPr/>
          <p:nvPr/>
        </p:nvSpPr>
        <p:spPr>
          <a:xfrm>
            <a:off x="457200" y="1188720"/>
            <a:ext cx="2651760" cy="2011680"/>
          </a:xfrm>
          <a:prstGeom prst="roundRect">
            <a:avLst>
              <a:gd name="adj" fmla="val 3636"/>
            </a:avLst>
          </a:prstGeom>
          <a:solidFill>
            <a:srgbClr val="EEF0F8"/>
          </a:solidFill>
          <a:ln w="12700">
            <a:solidFill>
              <a:srgbClr val="EEF0F8"/>
            </a:solidFill>
            <a:prstDash val="solid"/>
          </a:ln>
        </p:spPr>
      </p:sp>
      <p:sp>
        <p:nvSpPr>
          <p:cNvPr id="4" name="Shape 2"/>
          <p:cNvSpPr/>
          <p:nvPr/>
        </p:nvSpPr>
        <p:spPr>
          <a:xfrm>
            <a:off x="640080" y="1371600"/>
            <a:ext cx="457200" cy="457200"/>
          </a:xfrm>
          <a:prstGeom prst="ellipse">
            <a:avLst/>
          </a:prstGeom>
          <a:solidFill>
            <a:srgbClr val="C4472F"/>
          </a:solidFill>
          <a:ln w="12700">
            <a:solidFill>
              <a:srgbClr val="C4472F"/>
            </a:solidFill>
            <a:prstDash val="solid"/>
          </a:ln>
        </p:spPr>
      </p:sp>
      <p:sp>
        <p:nvSpPr>
          <p:cNvPr id="5" name="Text 3"/>
          <p:cNvSpPr txBox="1"/>
          <p:nvPr/>
        </p:nvSpPr>
        <p:spPr>
          <a:xfrm>
            <a:off x="640080" y="137160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6" name="Text 4"/>
          <p:cNvSpPr txBox="1"/>
          <p:nvPr/>
        </p:nvSpPr>
        <p:spPr>
          <a:xfrm>
            <a:off x="640080" y="1965960"/>
            <a:ext cx="2286000" cy="365760"/>
          </a:xfrm>
          <a:prstGeom prst="rect">
            <a:avLst/>
          </a:prstGeom>
          <a:noFill/>
          <a:ln/>
        </p:spPr>
        <p:txBody>
          <a:bodyPr wrap="square" lIns="0" tIns="0" rIns="0" bIns="0" rtlCol="0" anchor="t"/>
          <a:lstStyle/>
          <a:p>
            <a:pPr indent="0" marL="0">
              <a:buNone/>
            </a:pPr>
            <a:r>
              <a:rPr lang="en-US" sz="1800" b="1" dirty="0">
                <a:solidFill>
                  <a:srgbClr val="1F2A5C"/>
                </a:solidFill>
                <a:latin typeface="Calibri" pitchFamily="34" charset="0"/>
                <a:ea typeface="Calibri" pitchFamily="34" charset="-122"/>
                <a:cs typeface="Calibri" pitchFamily="34" charset="-120"/>
              </a:rPr>
              <a:t>Clean the labels</a:t>
            </a:r>
            <a:endParaRPr lang="en-US" sz="1800" dirty="0"/>
          </a:p>
        </p:txBody>
      </p:sp>
      <p:sp>
        <p:nvSpPr>
          <p:cNvPr id="7" name="Text 5"/>
          <p:cNvSpPr txBox="1"/>
          <p:nvPr/>
        </p:nvSpPr>
        <p:spPr>
          <a:xfrm>
            <a:off x="640080" y="2377440"/>
            <a:ext cx="2286000" cy="731520"/>
          </a:xfrm>
          <a:prstGeom prst="rect">
            <a:avLst/>
          </a:prstGeom>
          <a:noFill/>
          <a:ln/>
        </p:spPr>
        <p:txBody>
          <a:bodyPr wrap="square" lIns="0" tIns="0" rIns="0" bIns="0" rtlCol="0" anchor="t"/>
          <a:lstStyle/>
          <a:p>
            <a:pPr indent="0" marL="0">
              <a:buNone/>
            </a:pPr>
            <a:r>
              <a:rPr lang="en-US" sz="1400" dirty="0">
                <a:solidFill>
                  <a:srgbClr val="2B2F45"/>
                </a:solidFill>
                <a:latin typeface="Calibri" pitchFamily="34" charset="0"/>
                <a:ea typeface="Calibri" pitchFamily="34" charset="-122"/>
                <a:cs typeface="Calibri" pitchFamily="34" charset="-120"/>
              </a:rPr>
              <a:t>Use the first art-form tag. Remove generic tags such as handmade.</a:t>
            </a:r>
            <a:endParaRPr lang="en-US" sz="1400" dirty="0"/>
          </a:p>
        </p:txBody>
      </p:sp>
      <p:sp>
        <p:nvSpPr>
          <p:cNvPr id="8" name="Shape 6"/>
          <p:cNvSpPr/>
          <p:nvPr/>
        </p:nvSpPr>
        <p:spPr>
          <a:xfrm>
            <a:off x="3246120" y="1188720"/>
            <a:ext cx="2651760" cy="2011680"/>
          </a:xfrm>
          <a:prstGeom prst="roundRect">
            <a:avLst>
              <a:gd name="adj" fmla="val 3636"/>
            </a:avLst>
          </a:prstGeom>
          <a:solidFill>
            <a:srgbClr val="EEF0F8"/>
          </a:solidFill>
          <a:ln w="12700">
            <a:solidFill>
              <a:srgbClr val="EEF0F8"/>
            </a:solidFill>
            <a:prstDash val="solid"/>
          </a:ln>
        </p:spPr>
      </p:sp>
      <p:sp>
        <p:nvSpPr>
          <p:cNvPr id="9" name="Shape 7"/>
          <p:cNvSpPr/>
          <p:nvPr/>
        </p:nvSpPr>
        <p:spPr>
          <a:xfrm>
            <a:off x="3429000" y="1371600"/>
            <a:ext cx="457200" cy="457200"/>
          </a:xfrm>
          <a:prstGeom prst="ellipse">
            <a:avLst/>
          </a:prstGeom>
          <a:solidFill>
            <a:srgbClr val="C4472F"/>
          </a:solidFill>
          <a:ln w="12700">
            <a:solidFill>
              <a:srgbClr val="C4472F"/>
            </a:solidFill>
            <a:prstDash val="solid"/>
          </a:ln>
        </p:spPr>
      </p:sp>
      <p:sp>
        <p:nvSpPr>
          <p:cNvPr id="10" name="Text 8"/>
          <p:cNvSpPr txBox="1"/>
          <p:nvPr/>
        </p:nvSpPr>
        <p:spPr>
          <a:xfrm>
            <a:off x="3429000" y="137160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1" name="Text 9"/>
          <p:cNvSpPr txBox="1"/>
          <p:nvPr/>
        </p:nvSpPr>
        <p:spPr>
          <a:xfrm>
            <a:off x="3429000" y="1965960"/>
            <a:ext cx="2286000" cy="365760"/>
          </a:xfrm>
          <a:prstGeom prst="rect">
            <a:avLst/>
          </a:prstGeom>
          <a:noFill/>
          <a:ln/>
        </p:spPr>
        <p:txBody>
          <a:bodyPr wrap="square" lIns="0" tIns="0" rIns="0" bIns="0" rtlCol="0" anchor="t"/>
          <a:lstStyle/>
          <a:p>
            <a:pPr indent="0" marL="0">
              <a:buNone/>
            </a:pPr>
            <a:r>
              <a:rPr lang="en-US" sz="1800" b="1" dirty="0">
                <a:solidFill>
                  <a:srgbClr val="1F2A5C"/>
                </a:solidFill>
                <a:latin typeface="Calibri" pitchFamily="34" charset="0"/>
                <a:ea typeface="Calibri" pitchFamily="34" charset="-122"/>
                <a:cs typeface="Calibri" pitchFamily="34" charset="-120"/>
              </a:rPr>
              <a:t>Pick 8 classes</a:t>
            </a:r>
            <a:endParaRPr lang="en-US" sz="1800" dirty="0"/>
          </a:p>
        </p:txBody>
      </p:sp>
      <p:sp>
        <p:nvSpPr>
          <p:cNvPr id="12" name="Text 10"/>
          <p:cNvSpPr txBox="1"/>
          <p:nvPr/>
        </p:nvSpPr>
        <p:spPr>
          <a:xfrm>
            <a:off x="3429000" y="2377440"/>
            <a:ext cx="2286000" cy="731520"/>
          </a:xfrm>
          <a:prstGeom prst="rect">
            <a:avLst/>
          </a:prstGeom>
          <a:noFill/>
          <a:ln/>
        </p:spPr>
        <p:txBody>
          <a:bodyPr wrap="square" lIns="0" tIns="0" rIns="0" bIns="0" rtlCol="0" anchor="t"/>
          <a:lstStyle/>
          <a:p>
            <a:pPr indent="0" marL="0">
              <a:buNone/>
            </a:pPr>
            <a:r>
              <a:rPr lang="en-US" sz="1400" dirty="0">
                <a:solidFill>
                  <a:srgbClr val="2B2F45"/>
                </a:solidFill>
                <a:latin typeface="Calibri" pitchFamily="34" charset="0"/>
                <a:ea typeface="Calibri" pitchFamily="34" charset="-122"/>
                <a:cs typeface="Calibri" pitchFamily="34" charset="-120"/>
              </a:rPr>
              <a:t>400 images each, so 3,200 images in total and every class is balanced.</a:t>
            </a:r>
            <a:endParaRPr lang="en-US" sz="1400" dirty="0"/>
          </a:p>
        </p:txBody>
      </p:sp>
      <p:sp>
        <p:nvSpPr>
          <p:cNvPr id="13" name="Shape 11"/>
          <p:cNvSpPr/>
          <p:nvPr/>
        </p:nvSpPr>
        <p:spPr>
          <a:xfrm>
            <a:off x="6035040" y="1188720"/>
            <a:ext cx="2651760" cy="2011680"/>
          </a:xfrm>
          <a:prstGeom prst="roundRect">
            <a:avLst>
              <a:gd name="adj" fmla="val 3636"/>
            </a:avLst>
          </a:prstGeom>
          <a:solidFill>
            <a:srgbClr val="EEF0F8"/>
          </a:solidFill>
          <a:ln w="12700">
            <a:solidFill>
              <a:srgbClr val="EEF0F8"/>
            </a:solidFill>
            <a:prstDash val="solid"/>
          </a:ln>
        </p:spPr>
      </p:sp>
      <p:sp>
        <p:nvSpPr>
          <p:cNvPr id="14" name="Shape 12"/>
          <p:cNvSpPr/>
          <p:nvPr/>
        </p:nvSpPr>
        <p:spPr>
          <a:xfrm>
            <a:off x="6217920" y="1371600"/>
            <a:ext cx="457200" cy="457200"/>
          </a:xfrm>
          <a:prstGeom prst="ellipse">
            <a:avLst/>
          </a:prstGeom>
          <a:solidFill>
            <a:srgbClr val="C4472F"/>
          </a:solidFill>
          <a:ln w="12700">
            <a:solidFill>
              <a:srgbClr val="C4472F"/>
            </a:solidFill>
            <a:prstDash val="solid"/>
          </a:ln>
        </p:spPr>
      </p:sp>
      <p:sp>
        <p:nvSpPr>
          <p:cNvPr id="15" name="Text 13"/>
          <p:cNvSpPr txBox="1"/>
          <p:nvPr/>
        </p:nvSpPr>
        <p:spPr>
          <a:xfrm>
            <a:off x="6217920" y="137160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6" name="Text 14"/>
          <p:cNvSpPr txBox="1"/>
          <p:nvPr/>
        </p:nvSpPr>
        <p:spPr>
          <a:xfrm>
            <a:off x="6217920" y="1965960"/>
            <a:ext cx="2286000" cy="365760"/>
          </a:xfrm>
          <a:prstGeom prst="rect">
            <a:avLst/>
          </a:prstGeom>
          <a:noFill/>
          <a:ln/>
        </p:spPr>
        <p:txBody>
          <a:bodyPr wrap="square" lIns="0" tIns="0" rIns="0" bIns="0" rtlCol="0" anchor="t"/>
          <a:lstStyle/>
          <a:p>
            <a:pPr indent="0" marL="0">
              <a:buNone/>
            </a:pPr>
            <a:r>
              <a:rPr lang="en-US" sz="1800" b="1" dirty="0">
                <a:solidFill>
                  <a:srgbClr val="1F2A5C"/>
                </a:solidFill>
                <a:latin typeface="Calibri" pitchFamily="34" charset="0"/>
                <a:ea typeface="Calibri" pitchFamily="34" charset="-122"/>
                <a:cs typeface="Calibri" pitchFamily="34" charset="-120"/>
              </a:rPr>
              <a:t>Split the data</a:t>
            </a:r>
            <a:endParaRPr lang="en-US" sz="1800" dirty="0"/>
          </a:p>
        </p:txBody>
      </p:sp>
      <p:sp>
        <p:nvSpPr>
          <p:cNvPr id="17" name="Text 15"/>
          <p:cNvSpPr txBox="1"/>
          <p:nvPr/>
        </p:nvSpPr>
        <p:spPr>
          <a:xfrm>
            <a:off x="6217920" y="2377440"/>
            <a:ext cx="2286000" cy="731520"/>
          </a:xfrm>
          <a:prstGeom prst="rect">
            <a:avLst/>
          </a:prstGeom>
          <a:noFill/>
          <a:ln/>
        </p:spPr>
        <p:txBody>
          <a:bodyPr wrap="square" lIns="0" tIns="0" rIns="0" bIns="0" rtlCol="0" anchor="t"/>
          <a:lstStyle/>
          <a:p>
            <a:pPr indent="0" marL="0">
              <a:buNone/>
            </a:pPr>
            <a:r>
              <a:rPr lang="en-US" sz="1400" dirty="0">
                <a:solidFill>
                  <a:srgbClr val="2B2F45"/>
                </a:solidFill>
                <a:latin typeface="Calibri" pitchFamily="34" charset="0"/>
                <a:ea typeface="Calibri" pitchFamily="34" charset="-122"/>
                <a:cs typeface="Calibri" pitchFamily="34" charset="-120"/>
              </a:rPr>
              <a:t>Train 70%, validation 15%, test 15%, split evenly across classes.</a:t>
            </a:r>
            <a:endParaRPr lang="en-US" sz="1400" dirty="0"/>
          </a:p>
        </p:txBody>
      </p:sp>
      <p:sp>
        <p:nvSpPr>
          <p:cNvPr id="18" name="Text 16"/>
          <p:cNvSpPr txBox="1"/>
          <p:nvPr/>
        </p:nvSpPr>
        <p:spPr>
          <a:xfrm>
            <a:off x="457200" y="3429000"/>
            <a:ext cx="3657600" cy="274320"/>
          </a:xfrm>
          <a:prstGeom prst="rect">
            <a:avLst/>
          </a:prstGeom>
          <a:noFill/>
          <a:ln/>
        </p:spPr>
        <p:txBody>
          <a:bodyPr wrap="square" lIns="0" tIns="0" rIns="0" bIns="0" rtlCol="0" anchor="ctr"/>
          <a:lstStyle/>
          <a:p>
            <a:pPr indent="0" marL="0">
              <a:buNone/>
            </a:pPr>
            <a:r>
              <a:rPr lang="en-US" sz="1400" b="1" dirty="0">
                <a:solidFill>
                  <a:srgbClr val="2B2F45"/>
                </a:solidFill>
                <a:latin typeface="Calibri" pitchFamily="34" charset="0"/>
                <a:ea typeface="Calibri" pitchFamily="34" charset="-122"/>
                <a:cs typeface="Calibri" pitchFamily="34" charset="-120"/>
              </a:rPr>
              <a:t>Number of images</a:t>
            </a:r>
            <a:endParaRPr lang="en-US" sz="1400" dirty="0"/>
          </a:p>
        </p:txBody>
      </p:sp>
      <p:sp>
        <p:nvSpPr>
          <p:cNvPr id="19" name="Shape 17"/>
          <p:cNvSpPr/>
          <p:nvPr/>
        </p:nvSpPr>
        <p:spPr>
          <a:xfrm>
            <a:off x="457200" y="3749040"/>
            <a:ext cx="5760720" cy="457200"/>
          </a:xfrm>
          <a:prstGeom prst="rect">
            <a:avLst/>
          </a:prstGeom>
          <a:solidFill>
            <a:srgbClr val="1F2A5C"/>
          </a:solidFill>
          <a:ln w="12700">
            <a:solidFill>
              <a:srgbClr val="FFFFFF"/>
            </a:solidFill>
            <a:prstDash val="solid"/>
          </a:ln>
        </p:spPr>
      </p:sp>
      <p:sp>
        <p:nvSpPr>
          <p:cNvPr id="20" name="Text 18"/>
          <p:cNvSpPr txBox="1"/>
          <p:nvPr/>
        </p:nvSpPr>
        <p:spPr>
          <a:xfrm>
            <a:off x="457200" y="3749040"/>
            <a:ext cx="576072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Train  2,240</a:t>
            </a:r>
            <a:endParaRPr lang="en-US" sz="1400" dirty="0"/>
          </a:p>
        </p:txBody>
      </p:sp>
      <p:sp>
        <p:nvSpPr>
          <p:cNvPr id="21" name="Shape 19"/>
          <p:cNvSpPr/>
          <p:nvPr/>
        </p:nvSpPr>
        <p:spPr>
          <a:xfrm>
            <a:off x="6217920" y="3749040"/>
            <a:ext cx="1234440" cy="457200"/>
          </a:xfrm>
          <a:prstGeom prst="rect">
            <a:avLst/>
          </a:prstGeom>
          <a:solidFill>
            <a:srgbClr val="C4472F"/>
          </a:solidFill>
          <a:ln w="12700">
            <a:solidFill>
              <a:srgbClr val="FFFFFF"/>
            </a:solidFill>
            <a:prstDash val="solid"/>
          </a:ln>
        </p:spPr>
      </p:sp>
      <p:sp>
        <p:nvSpPr>
          <p:cNvPr id="22" name="Text 20"/>
          <p:cNvSpPr txBox="1"/>
          <p:nvPr/>
        </p:nvSpPr>
        <p:spPr>
          <a:xfrm>
            <a:off x="6217920" y="3749040"/>
            <a:ext cx="123444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Val  480</a:t>
            </a:r>
            <a:endParaRPr lang="en-US" sz="1400" dirty="0"/>
          </a:p>
        </p:txBody>
      </p:sp>
      <p:sp>
        <p:nvSpPr>
          <p:cNvPr id="23" name="Shape 21"/>
          <p:cNvSpPr/>
          <p:nvPr/>
        </p:nvSpPr>
        <p:spPr>
          <a:xfrm>
            <a:off x="7452360" y="3749040"/>
            <a:ext cx="1234440" cy="457200"/>
          </a:xfrm>
          <a:prstGeom prst="rect">
            <a:avLst/>
          </a:prstGeom>
          <a:solidFill>
            <a:srgbClr val="6B7390"/>
          </a:solidFill>
          <a:ln w="12700">
            <a:solidFill>
              <a:srgbClr val="FFFFFF"/>
            </a:solidFill>
            <a:prstDash val="solid"/>
          </a:ln>
        </p:spPr>
      </p:sp>
      <p:sp>
        <p:nvSpPr>
          <p:cNvPr id="24" name="Text 22"/>
          <p:cNvSpPr txBox="1"/>
          <p:nvPr/>
        </p:nvSpPr>
        <p:spPr>
          <a:xfrm>
            <a:off x="7452360" y="3749040"/>
            <a:ext cx="123444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Test  480</a:t>
            </a:r>
            <a:endParaRPr lang="en-US" sz="14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7A7F99"/>
                </a:solidFill>
                <a:latin typeface="Calibri"/>
                <a:ea typeface="Calibri"/>
                <a:cs typeface="Calibri"/>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200" b="1" dirty="0">
                <a:solidFill>
                  <a:srgbClr val="1F2A5C"/>
                </a:solidFill>
                <a:latin typeface="Cambria" pitchFamily="34" charset="0"/>
                <a:ea typeface="Cambria" pitchFamily="34" charset="-122"/>
                <a:cs typeface="Cambria" pitchFamily="34" charset="-120"/>
              </a:rPr>
              <a:t>The model: ResNet18</a:t>
            </a:r>
            <a:endParaRPr lang="en-US" sz="3200" dirty="0"/>
          </a:p>
        </p:txBody>
      </p:sp>
      <p:sp>
        <p:nvSpPr>
          <p:cNvPr id="3" name="Shape 1"/>
          <p:cNvSpPr/>
          <p:nvPr/>
        </p:nvSpPr>
        <p:spPr>
          <a:xfrm>
            <a:off x="457200" y="1234440"/>
            <a:ext cx="1828800" cy="1097280"/>
          </a:xfrm>
          <a:prstGeom prst="roundRect">
            <a:avLst>
              <a:gd name="adj" fmla="val 6667"/>
            </a:avLst>
          </a:prstGeom>
          <a:solidFill>
            <a:srgbClr val="EEF0F8"/>
          </a:solidFill>
          <a:ln w="12700">
            <a:solidFill>
              <a:srgbClr val="EEF0F8"/>
            </a:solidFill>
            <a:prstDash val="solid"/>
          </a:ln>
        </p:spPr>
      </p:sp>
      <p:sp>
        <p:nvSpPr>
          <p:cNvPr id="4" name="Text 2"/>
          <p:cNvSpPr txBox="1"/>
          <p:nvPr/>
        </p:nvSpPr>
        <p:spPr>
          <a:xfrm>
            <a:off x="457200" y="1234440"/>
            <a:ext cx="1828800" cy="1097280"/>
          </a:xfrm>
          <a:prstGeom prst="rect">
            <a:avLst/>
          </a:prstGeom>
          <a:noFill/>
          <a:ln/>
        </p:spPr>
        <p:txBody>
          <a:bodyPr wrap="square" lIns="50800" tIns="50800" rIns="50800" bIns="50800" rtlCol="0" anchor="ctr"/>
          <a:lstStyle/>
          <a:p>
            <a:pPr algn="ctr" indent="0" marL="0">
              <a:buNone/>
            </a:pPr>
            <a:r>
              <a:rPr lang="en-US" sz="1600" b="1" dirty="0">
                <a:solidFill>
                  <a:srgbClr val="2B2F45"/>
                </a:solidFill>
                <a:latin typeface="Calibri" pitchFamily="34" charset="0"/>
                <a:ea typeface="Calibri" pitchFamily="34" charset="-122"/>
                <a:cs typeface="Calibri" pitchFamily="34" charset="-120"/>
              </a:rPr>
              <a:t>Photo</a:t>
            </a:r>
            <a:endParaRPr lang="en-US" sz="1600" dirty="0"/>
          </a:p>
          <a:p>
            <a:pPr algn="ctr" indent="0" marL="0">
              <a:buNone/>
            </a:pPr>
            <a:r>
              <a:rPr lang="en-US" sz="1300" dirty="0">
                <a:solidFill>
                  <a:srgbClr val="2B2F45"/>
                </a:solidFill>
                <a:latin typeface="Calibri" pitchFamily="34" charset="0"/>
                <a:ea typeface="Calibri" pitchFamily="34" charset="-122"/>
                <a:cs typeface="Calibri" pitchFamily="34" charset="-120"/>
              </a:rPr>
              <a:t>224 × 224</a:t>
            </a:r>
            <a:endParaRPr lang="en-US" sz="1600" dirty="0"/>
          </a:p>
        </p:txBody>
      </p:sp>
      <p:sp>
        <p:nvSpPr>
          <p:cNvPr id="5" name="Shape 3"/>
          <p:cNvSpPr/>
          <p:nvPr/>
        </p:nvSpPr>
        <p:spPr>
          <a:xfrm>
            <a:off x="2322576" y="1691640"/>
            <a:ext cx="228600" cy="237744"/>
          </a:xfrm>
          <a:prstGeom prst="rightArrow">
            <a:avLst/>
          </a:prstGeom>
          <a:solidFill>
            <a:srgbClr val="C4472F"/>
          </a:solidFill>
          <a:ln w="12700">
            <a:solidFill>
              <a:srgbClr val="C4472F"/>
            </a:solidFill>
            <a:prstDash val="solid"/>
          </a:ln>
        </p:spPr>
      </p:sp>
      <p:sp>
        <p:nvSpPr>
          <p:cNvPr id="6" name="Shape 4"/>
          <p:cNvSpPr/>
          <p:nvPr/>
        </p:nvSpPr>
        <p:spPr>
          <a:xfrm>
            <a:off x="2590495" y="1234440"/>
            <a:ext cx="1828800" cy="1097280"/>
          </a:xfrm>
          <a:prstGeom prst="roundRect">
            <a:avLst>
              <a:gd name="adj" fmla="val 6667"/>
            </a:avLst>
          </a:prstGeom>
          <a:solidFill>
            <a:srgbClr val="EEF0F8"/>
          </a:solidFill>
          <a:ln w="12700">
            <a:solidFill>
              <a:srgbClr val="EEF0F8"/>
            </a:solidFill>
            <a:prstDash val="solid"/>
          </a:ln>
        </p:spPr>
      </p:sp>
      <p:sp>
        <p:nvSpPr>
          <p:cNvPr id="7" name="Text 5"/>
          <p:cNvSpPr txBox="1"/>
          <p:nvPr/>
        </p:nvSpPr>
        <p:spPr>
          <a:xfrm>
            <a:off x="2590495" y="1234440"/>
            <a:ext cx="1828800" cy="1097280"/>
          </a:xfrm>
          <a:prstGeom prst="rect">
            <a:avLst/>
          </a:prstGeom>
          <a:noFill/>
          <a:ln/>
        </p:spPr>
        <p:txBody>
          <a:bodyPr wrap="square" lIns="50800" tIns="50800" rIns="50800" bIns="50800" rtlCol="0" anchor="ctr"/>
          <a:lstStyle/>
          <a:p>
            <a:pPr algn="ctr" indent="0" marL="0">
              <a:buNone/>
            </a:pPr>
            <a:r>
              <a:rPr lang="en-US" sz="1600" b="1" dirty="0">
                <a:solidFill>
                  <a:srgbClr val="2B2F45"/>
                </a:solidFill>
                <a:latin typeface="Calibri" pitchFamily="34" charset="0"/>
                <a:ea typeface="Calibri" pitchFamily="34" charset="-122"/>
                <a:cs typeface="Calibri" pitchFamily="34" charset="-120"/>
              </a:rPr>
              <a:t>Layers 1–3</a:t>
            </a:r>
            <a:endParaRPr lang="en-US" sz="1600" dirty="0"/>
          </a:p>
          <a:p>
            <a:pPr algn="ctr" indent="0" marL="0">
              <a:buNone/>
            </a:pPr>
            <a:r>
              <a:rPr lang="en-US" sz="1300" dirty="0">
                <a:solidFill>
                  <a:srgbClr val="2B2F45"/>
                </a:solidFill>
                <a:latin typeface="Calibri" pitchFamily="34" charset="0"/>
                <a:ea typeface="Calibri" pitchFamily="34" charset="-122"/>
                <a:cs typeface="Calibri" pitchFamily="34" charset="-120"/>
              </a:rPr>
              <a:t>already trained on ImageNet</a:t>
            </a:r>
            <a:endParaRPr lang="en-US" sz="1600" dirty="0"/>
          </a:p>
        </p:txBody>
      </p:sp>
      <p:sp>
        <p:nvSpPr>
          <p:cNvPr id="8" name="Shape 6"/>
          <p:cNvSpPr/>
          <p:nvPr/>
        </p:nvSpPr>
        <p:spPr>
          <a:xfrm>
            <a:off x="4455871" y="1691640"/>
            <a:ext cx="228600" cy="237744"/>
          </a:xfrm>
          <a:prstGeom prst="rightArrow">
            <a:avLst/>
          </a:prstGeom>
          <a:solidFill>
            <a:srgbClr val="C4472F"/>
          </a:solidFill>
          <a:ln w="12700">
            <a:solidFill>
              <a:srgbClr val="C4472F"/>
            </a:solidFill>
            <a:prstDash val="solid"/>
          </a:ln>
        </p:spPr>
      </p:sp>
      <p:sp>
        <p:nvSpPr>
          <p:cNvPr id="9" name="Shape 7"/>
          <p:cNvSpPr/>
          <p:nvPr/>
        </p:nvSpPr>
        <p:spPr>
          <a:xfrm>
            <a:off x="4723790" y="1234440"/>
            <a:ext cx="1828800" cy="1097280"/>
          </a:xfrm>
          <a:prstGeom prst="roundRect">
            <a:avLst>
              <a:gd name="adj" fmla="val 6667"/>
            </a:avLst>
          </a:prstGeom>
          <a:solidFill>
            <a:srgbClr val="F6DDD7"/>
          </a:solidFill>
          <a:ln w="12700">
            <a:solidFill>
              <a:srgbClr val="F6DDD7"/>
            </a:solidFill>
            <a:prstDash val="solid"/>
          </a:ln>
        </p:spPr>
      </p:sp>
      <p:sp>
        <p:nvSpPr>
          <p:cNvPr id="10" name="Text 8"/>
          <p:cNvSpPr txBox="1"/>
          <p:nvPr/>
        </p:nvSpPr>
        <p:spPr>
          <a:xfrm>
            <a:off x="4723790" y="1234440"/>
            <a:ext cx="1828800" cy="1097280"/>
          </a:xfrm>
          <a:prstGeom prst="rect">
            <a:avLst/>
          </a:prstGeom>
          <a:noFill/>
          <a:ln/>
        </p:spPr>
        <p:txBody>
          <a:bodyPr wrap="square" lIns="50800" tIns="50800" rIns="50800" bIns="50800" rtlCol="0" anchor="ctr"/>
          <a:lstStyle/>
          <a:p>
            <a:pPr algn="ctr" indent="0" marL="0">
              <a:buNone/>
            </a:pPr>
            <a:r>
              <a:rPr lang="en-US" sz="1600" b="1" dirty="0">
                <a:solidFill>
                  <a:srgbClr val="2B2F45"/>
                </a:solidFill>
                <a:latin typeface="Calibri" pitchFamily="34" charset="0"/>
                <a:ea typeface="Calibri" pitchFamily="34" charset="-122"/>
                <a:cs typeface="Calibri" pitchFamily="34" charset="-120"/>
              </a:rPr>
              <a:t>layer4</a:t>
            </a:r>
            <a:endParaRPr lang="en-US" sz="1600" dirty="0"/>
          </a:p>
          <a:p>
            <a:pPr algn="ctr" indent="0" marL="0">
              <a:buNone/>
            </a:pPr>
            <a:r>
              <a:rPr lang="en-US" sz="1300" dirty="0">
                <a:solidFill>
                  <a:srgbClr val="2B2F45"/>
                </a:solidFill>
                <a:latin typeface="Calibri" pitchFamily="34" charset="0"/>
                <a:ea typeface="Calibri" pitchFamily="34" charset="-122"/>
                <a:cs typeface="Calibri" pitchFamily="34" charset="-120"/>
              </a:rPr>
              <a:t>adjusted for our crafts</a:t>
            </a:r>
            <a:endParaRPr lang="en-US" sz="1600" dirty="0"/>
          </a:p>
        </p:txBody>
      </p:sp>
      <p:sp>
        <p:nvSpPr>
          <p:cNvPr id="11" name="Shape 9"/>
          <p:cNvSpPr/>
          <p:nvPr/>
        </p:nvSpPr>
        <p:spPr>
          <a:xfrm>
            <a:off x="6589166" y="1691640"/>
            <a:ext cx="228600" cy="237744"/>
          </a:xfrm>
          <a:prstGeom prst="rightArrow">
            <a:avLst/>
          </a:prstGeom>
          <a:solidFill>
            <a:srgbClr val="C4472F"/>
          </a:solidFill>
          <a:ln w="12700">
            <a:solidFill>
              <a:srgbClr val="C4472F"/>
            </a:solidFill>
            <a:prstDash val="solid"/>
          </a:ln>
        </p:spPr>
      </p:sp>
      <p:sp>
        <p:nvSpPr>
          <p:cNvPr id="12" name="Shape 10"/>
          <p:cNvSpPr/>
          <p:nvPr/>
        </p:nvSpPr>
        <p:spPr>
          <a:xfrm>
            <a:off x="6857086" y="1234440"/>
            <a:ext cx="1828800" cy="1097280"/>
          </a:xfrm>
          <a:prstGeom prst="roundRect">
            <a:avLst>
              <a:gd name="adj" fmla="val 6667"/>
            </a:avLst>
          </a:prstGeom>
          <a:solidFill>
            <a:srgbClr val="EEF0F8"/>
          </a:solidFill>
          <a:ln w="12700">
            <a:solidFill>
              <a:srgbClr val="EEF0F8"/>
            </a:solidFill>
            <a:prstDash val="solid"/>
          </a:ln>
        </p:spPr>
      </p:sp>
      <p:sp>
        <p:nvSpPr>
          <p:cNvPr id="13" name="Text 11"/>
          <p:cNvSpPr txBox="1"/>
          <p:nvPr/>
        </p:nvSpPr>
        <p:spPr>
          <a:xfrm>
            <a:off x="6857086" y="1234440"/>
            <a:ext cx="1828800" cy="1097280"/>
          </a:xfrm>
          <a:prstGeom prst="rect">
            <a:avLst/>
          </a:prstGeom>
          <a:noFill/>
          <a:ln/>
        </p:spPr>
        <p:txBody>
          <a:bodyPr wrap="square" lIns="50800" tIns="50800" rIns="50800" bIns="50800" rtlCol="0" anchor="ctr"/>
          <a:lstStyle/>
          <a:p>
            <a:pPr algn="ctr" indent="0" marL="0">
              <a:buNone/>
            </a:pPr>
            <a:r>
              <a:rPr lang="en-US" sz="1600" b="1" dirty="0">
                <a:solidFill>
                  <a:srgbClr val="2B2F45"/>
                </a:solidFill>
                <a:latin typeface="Calibri" pitchFamily="34" charset="0"/>
                <a:ea typeface="Calibri" pitchFamily="34" charset="-122"/>
                <a:cs typeface="Calibri" pitchFamily="34" charset="-120"/>
              </a:rPr>
              <a:t>New classifier</a:t>
            </a:r>
            <a:endParaRPr lang="en-US" sz="1600" dirty="0"/>
          </a:p>
          <a:p>
            <a:pPr algn="ctr" indent="0" marL="0">
              <a:buNone/>
            </a:pPr>
            <a:r>
              <a:rPr lang="en-US" sz="1300" dirty="0">
                <a:solidFill>
                  <a:srgbClr val="2B2F45"/>
                </a:solidFill>
                <a:latin typeface="Calibri" pitchFamily="34" charset="0"/>
                <a:ea typeface="Calibri" pitchFamily="34" charset="-122"/>
                <a:cs typeface="Calibri" pitchFamily="34" charset="-120"/>
              </a:rPr>
              <a:t>512 → 8 crafts</a:t>
            </a:r>
            <a:endParaRPr lang="en-US" sz="1600" dirty="0"/>
          </a:p>
        </p:txBody>
      </p:sp>
      <p:sp>
        <p:nvSpPr>
          <p:cNvPr id="14" name="Text 12"/>
          <p:cNvSpPr txBox="1"/>
          <p:nvPr/>
        </p:nvSpPr>
        <p:spPr>
          <a:xfrm>
            <a:off x="457200" y="2743200"/>
            <a:ext cx="8229600" cy="192024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2B2F45"/>
                </a:solidFill>
                <a:latin typeface="Calibri" pitchFamily="34" charset="0"/>
                <a:ea typeface="Calibri" pitchFamily="34" charset="-122"/>
                <a:cs typeface="Calibri" pitchFamily="34" charset="-120"/>
              </a:rPr>
              <a:t>ResNet18 is a CNN that was already trained on ImageNet, a very large photo collection</a:t>
            </a:r>
            <a:endParaRPr lang="en-US" sz="1600" dirty="0"/>
          </a:p>
          <a:p>
            <a:pPr marL="342900" indent="-342900">
              <a:spcAft>
                <a:spcPts val="800"/>
              </a:spcAft>
              <a:buSzPct val="100000"/>
              <a:buChar char="•"/>
            </a:pPr>
            <a:r>
              <a:rPr lang="en-US" sz="1600" dirty="0">
                <a:solidFill>
                  <a:srgbClr val="2B2F45"/>
                </a:solidFill>
                <a:latin typeface="Calibri" pitchFamily="34" charset="0"/>
                <a:ea typeface="Calibri" pitchFamily="34" charset="-122"/>
                <a:cs typeface="Calibri" pitchFamily="34" charset="-120"/>
              </a:rPr>
              <a:t>It already knows edges, textures and shapes</a:t>
            </a:r>
            <a:endParaRPr lang="en-US" sz="1600" dirty="0"/>
          </a:p>
          <a:p>
            <a:pPr marL="342900" indent="-342900">
              <a:spcAft>
                <a:spcPts val="800"/>
              </a:spcAft>
              <a:buSzPct val="100000"/>
              <a:buChar char="•"/>
            </a:pPr>
            <a:r>
              <a:rPr lang="en-US" sz="1600" dirty="0">
                <a:solidFill>
                  <a:srgbClr val="2B2F45"/>
                </a:solidFill>
                <a:latin typeface="Calibri" pitchFamily="34" charset="0"/>
                <a:ea typeface="Calibri" pitchFamily="34" charset="-122"/>
                <a:cs typeface="Calibri" pitchFamily="34" charset="-120"/>
              </a:rPr>
              <a:t>We have only 400 images per class, so we reuse this knowledge instead of starting from zero</a:t>
            </a:r>
            <a:endParaRPr lang="en-US" sz="16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7A7F99"/>
                </a:solidFill>
                <a:latin typeface="Calibri"/>
                <a:ea typeface="Calibri"/>
                <a:cs typeface="Calibri"/>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200" b="1" dirty="0">
                <a:solidFill>
                  <a:srgbClr val="1F2A5C"/>
                </a:solidFill>
                <a:latin typeface="Cambria" pitchFamily="34" charset="0"/>
                <a:ea typeface="Cambria" pitchFamily="34" charset="-122"/>
                <a:cs typeface="Cambria" pitchFamily="34" charset="-120"/>
              </a:rPr>
              <a:t>Fine-tuning in two stages</a:t>
            </a:r>
            <a:endParaRPr lang="en-US" sz="3200" dirty="0"/>
          </a:p>
        </p:txBody>
      </p:sp>
      <p:sp>
        <p:nvSpPr>
          <p:cNvPr id="3" name="Shape 1"/>
          <p:cNvSpPr/>
          <p:nvPr/>
        </p:nvSpPr>
        <p:spPr>
          <a:xfrm>
            <a:off x="457200" y="1188720"/>
            <a:ext cx="3931920" cy="2743200"/>
          </a:xfrm>
          <a:prstGeom prst="roundRect">
            <a:avLst>
              <a:gd name="adj" fmla="val 2667"/>
            </a:avLst>
          </a:prstGeom>
          <a:solidFill>
            <a:srgbClr val="EEF0F8"/>
          </a:solidFill>
          <a:ln w="12700">
            <a:solidFill>
              <a:srgbClr val="EEF0F8"/>
            </a:solidFill>
            <a:prstDash val="solid"/>
          </a:ln>
        </p:spPr>
      </p:sp>
      <p:sp>
        <p:nvSpPr>
          <p:cNvPr id="4" name="Text 2"/>
          <p:cNvSpPr txBox="1"/>
          <p:nvPr/>
        </p:nvSpPr>
        <p:spPr>
          <a:xfrm>
            <a:off x="685800" y="1325880"/>
            <a:ext cx="3474720" cy="365760"/>
          </a:xfrm>
          <a:prstGeom prst="rect">
            <a:avLst/>
          </a:prstGeom>
          <a:noFill/>
          <a:ln/>
        </p:spPr>
        <p:txBody>
          <a:bodyPr wrap="square" lIns="0" tIns="0" rIns="0" bIns="0" rtlCol="0" anchor="ctr"/>
          <a:lstStyle/>
          <a:p>
            <a:pPr indent="0" marL="0">
              <a:buNone/>
            </a:pPr>
            <a:r>
              <a:rPr lang="en-US" sz="2200" b="1" dirty="0">
                <a:solidFill>
                  <a:srgbClr val="C4472F"/>
                </a:solidFill>
                <a:latin typeface="Cambria" pitchFamily="34" charset="0"/>
                <a:ea typeface="Cambria" pitchFamily="34" charset="-122"/>
                <a:cs typeface="Cambria" pitchFamily="34" charset="-120"/>
              </a:rPr>
              <a:t>Stage 1</a:t>
            </a:r>
            <a:endParaRPr lang="en-US" sz="2200" dirty="0"/>
          </a:p>
        </p:txBody>
      </p:sp>
      <p:sp>
        <p:nvSpPr>
          <p:cNvPr id="5" name="Text 3"/>
          <p:cNvSpPr txBox="1"/>
          <p:nvPr/>
        </p:nvSpPr>
        <p:spPr>
          <a:xfrm>
            <a:off x="685800" y="1737360"/>
            <a:ext cx="3474720" cy="365760"/>
          </a:xfrm>
          <a:prstGeom prst="rect">
            <a:avLst/>
          </a:prstGeom>
          <a:noFill/>
          <a:ln/>
        </p:spPr>
        <p:txBody>
          <a:bodyPr wrap="square" lIns="0" tIns="0" rIns="0" bIns="0" rtlCol="0" anchor="ctr"/>
          <a:lstStyle/>
          <a:p>
            <a:pPr indent="0" marL="0">
              <a:buNone/>
            </a:pPr>
            <a:r>
              <a:rPr lang="en-US" sz="1800" b="1" dirty="0">
                <a:solidFill>
                  <a:srgbClr val="1F2A5C"/>
                </a:solidFill>
                <a:latin typeface="Calibri" pitchFamily="34" charset="0"/>
                <a:ea typeface="Calibri" pitchFamily="34" charset="-122"/>
                <a:cs typeface="Calibri" pitchFamily="34" charset="-120"/>
              </a:rPr>
              <a:t>Train only the new classifier</a:t>
            </a:r>
            <a:endParaRPr lang="en-US" sz="1800" dirty="0"/>
          </a:p>
        </p:txBody>
      </p:sp>
      <p:sp>
        <p:nvSpPr>
          <p:cNvPr id="6" name="Text 4"/>
          <p:cNvSpPr txBox="1"/>
          <p:nvPr/>
        </p:nvSpPr>
        <p:spPr>
          <a:xfrm>
            <a:off x="685800" y="2148840"/>
            <a:ext cx="3474720" cy="320040"/>
          </a:xfrm>
          <a:prstGeom prst="rect">
            <a:avLst/>
          </a:prstGeom>
          <a:noFill/>
          <a:ln/>
        </p:spPr>
        <p:txBody>
          <a:bodyPr wrap="square" lIns="0" tIns="0" rIns="0" bIns="0" rtlCol="0" anchor="ctr"/>
          <a:lstStyle/>
          <a:p>
            <a:pPr indent="0" marL="0">
              <a:buNone/>
            </a:pPr>
            <a:r>
              <a:rPr lang="en-US" sz="1400" dirty="0">
                <a:solidFill>
                  <a:srgbClr val="2B2F45"/>
                </a:solidFill>
                <a:latin typeface="Calibri" pitchFamily="34" charset="0"/>
                <a:ea typeface="Calibri" pitchFamily="34" charset="-122"/>
                <a:cs typeface="Calibri" pitchFamily="34" charset="-120"/>
              </a:rPr>
              <a:t>Learning rate 1e-3  ·  6 epochs</a:t>
            </a:r>
            <a:endParaRPr lang="en-US" sz="1400" dirty="0"/>
          </a:p>
        </p:txBody>
      </p:sp>
      <p:sp>
        <p:nvSpPr>
          <p:cNvPr id="7" name="Text 5"/>
          <p:cNvSpPr txBox="1"/>
          <p:nvPr/>
        </p:nvSpPr>
        <p:spPr>
          <a:xfrm>
            <a:off x="685800" y="2606040"/>
            <a:ext cx="3474720" cy="731520"/>
          </a:xfrm>
          <a:prstGeom prst="rect">
            <a:avLst/>
          </a:prstGeom>
          <a:noFill/>
          <a:ln/>
        </p:spPr>
        <p:txBody>
          <a:bodyPr wrap="square" lIns="0" tIns="0" rIns="0" bIns="0" rtlCol="0" anchor="ctr"/>
          <a:lstStyle/>
          <a:p>
            <a:pPr indent="0" marL="0">
              <a:buNone/>
            </a:pPr>
            <a:r>
              <a:rPr lang="en-US" sz="4400" b="1" dirty="0">
                <a:solidFill>
                  <a:srgbClr val="1F2A5C"/>
                </a:solidFill>
                <a:latin typeface="Cambria" pitchFamily="34" charset="0"/>
                <a:ea typeface="Cambria" pitchFamily="34" charset="-122"/>
                <a:cs typeface="Cambria" pitchFamily="34" charset="-120"/>
              </a:rPr>
              <a:t>72.1%</a:t>
            </a:r>
            <a:endParaRPr lang="en-US" sz="4400" dirty="0"/>
          </a:p>
        </p:txBody>
      </p:sp>
      <p:sp>
        <p:nvSpPr>
          <p:cNvPr id="8" name="Text 6"/>
          <p:cNvSpPr txBox="1"/>
          <p:nvPr/>
        </p:nvSpPr>
        <p:spPr>
          <a:xfrm>
            <a:off x="685800" y="3337560"/>
            <a:ext cx="3474720" cy="365760"/>
          </a:xfrm>
          <a:prstGeom prst="rect">
            <a:avLst/>
          </a:prstGeom>
          <a:noFill/>
          <a:ln/>
        </p:spPr>
        <p:txBody>
          <a:bodyPr wrap="square" lIns="0" tIns="0" rIns="0" bIns="0" rtlCol="0" anchor="ctr"/>
          <a:lstStyle/>
          <a:p>
            <a:pPr indent="0" marL="0">
              <a:buNone/>
            </a:pPr>
            <a:r>
              <a:rPr lang="en-US" sz="1400" dirty="0">
                <a:solidFill>
                  <a:srgbClr val="2B2F45"/>
                </a:solidFill>
                <a:latin typeface="Calibri" pitchFamily="34" charset="0"/>
                <a:ea typeface="Calibri" pitchFamily="34" charset="-122"/>
                <a:cs typeface="Calibri" pitchFamily="34" charset="-120"/>
              </a:rPr>
              <a:t>validation accuracy</a:t>
            </a:r>
            <a:endParaRPr lang="en-US" sz="1400" dirty="0"/>
          </a:p>
        </p:txBody>
      </p:sp>
      <p:sp>
        <p:nvSpPr>
          <p:cNvPr id="9" name="Shape 7"/>
          <p:cNvSpPr/>
          <p:nvPr/>
        </p:nvSpPr>
        <p:spPr>
          <a:xfrm>
            <a:off x="4754880" y="1188720"/>
            <a:ext cx="3931920" cy="2743200"/>
          </a:xfrm>
          <a:prstGeom prst="roundRect">
            <a:avLst>
              <a:gd name="adj" fmla="val 2667"/>
            </a:avLst>
          </a:prstGeom>
          <a:solidFill>
            <a:srgbClr val="EEF0F8"/>
          </a:solidFill>
          <a:ln w="12700">
            <a:solidFill>
              <a:srgbClr val="EEF0F8"/>
            </a:solidFill>
            <a:prstDash val="solid"/>
          </a:ln>
        </p:spPr>
      </p:sp>
      <p:sp>
        <p:nvSpPr>
          <p:cNvPr id="10" name="Text 8"/>
          <p:cNvSpPr txBox="1"/>
          <p:nvPr/>
        </p:nvSpPr>
        <p:spPr>
          <a:xfrm>
            <a:off x="4983480" y="1325880"/>
            <a:ext cx="3474720" cy="365760"/>
          </a:xfrm>
          <a:prstGeom prst="rect">
            <a:avLst/>
          </a:prstGeom>
          <a:noFill/>
          <a:ln/>
        </p:spPr>
        <p:txBody>
          <a:bodyPr wrap="square" lIns="0" tIns="0" rIns="0" bIns="0" rtlCol="0" anchor="ctr"/>
          <a:lstStyle/>
          <a:p>
            <a:pPr indent="0" marL="0">
              <a:buNone/>
            </a:pPr>
            <a:r>
              <a:rPr lang="en-US" sz="2200" b="1" dirty="0">
                <a:solidFill>
                  <a:srgbClr val="C4472F"/>
                </a:solidFill>
                <a:latin typeface="Cambria" pitchFamily="34" charset="0"/>
                <a:ea typeface="Cambria" pitchFamily="34" charset="-122"/>
                <a:cs typeface="Cambria" pitchFamily="34" charset="-120"/>
              </a:rPr>
              <a:t>Stage 2</a:t>
            </a:r>
            <a:endParaRPr lang="en-US" sz="2200" dirty="0"/>
          </a:p>
        </p:txBody>
      </p:sp>
      <p:sp>
        <p:nvSpPr>
          <p:cNvPr id="11" name="Text 9"/>
          <p:cNvSpPr txBox="1"/>
          <p:nvPr/>
        </p:nvSpPr>
        <p:spPr>
          <a:xfrm>
            <a:off x="4983480" y="1737360"/>
            <a:ext cx="3474720" cy="365760"/>
          </a:xfrm>
          <a:prstGeom prst="rect">
            <a:avLst/>
          </a:prstGeom>
          <a:noFill/>
          <a:ln/>
        </p:spPr>
        <p:txBody>
          <a:bodyPr wrap="square" lIns="0" tIns="0" rIns="0" bIns="0" rtlCol="0" anchor="ctr"/>
          <a:lstStyle/>
          <a:p>
            <a:pPr indent="0" marL="0">
              <a:buNone/>
            </a:pPr>
            <a:r>
              <a:rPr lang="en-US" sz="1800" b="1" dirty="0">
                <a:solidFill>
                  <a:srgbClr val="1F2A5C"/>
                </a:solidFill>
                <a:latin typeface="Calibri" pitchFamily="34" charset="0"/>
                <a:ea typeface="Calibri" pitchFamily="34" charset="-122"/>
                <a:cs typeface="Calibri" pitchFamily="34" charset="-120"/>
              </a:rPr>
              <a:t>Also adjust layer4 gently</a:t>
            </a:r>
            <a:endParaRPr lang="en-US" sz="1800" dirty="0"/>
          </a:p>
        </p:txBody>
      </p:sp>
      <p:sp>
        <p:nvSpPr>
          <p:cNvPr id="12" name="Text 10"/>
          <p:cNvSpPr txBox="1"/>
          <p:nvPr/>
        </p:nvSpPr>
        <p:spPr>
          <a:xfrm>
            <a:off x="4983480" y="2148840"/>
            <a:ext cx="3474720" cy="320040"/>
          </a:xfrm>
          <a:prstGeom prst="rect">
            <a:avLst/>
          </a:prstGeom>
          <a:noFill/>
          <a:ln/>
        </p:spPr>
        <p:txBody>
          <a:bodyPr wrap="square" lIns="0" tIns="0" rIns="0" bIns="0" rtlCol="0" anchor="ctr"/>
          <a:lstStyle/>
          <a:p>
            <a:pPr indent="0" marL="0">
              <a:buNone/>
            </a:pPr>
            <a:r>
              <a:rPr lang="en-US" sz="1400" dirty="0">
                <a:solidFill>
                  <a:srgbClr val="2B2F45"/>
                </a:solidFill>
                <a:latin typeface="Calibri" pitchFamily="34" charset="0"/>
                <a:ea typeface="Calibri" pitchFamily="34" charset="-122"/>
                <a:cs typeface="Calibri" pitchFamily="34" charset="-120"/>
              </a:rPr>
              <a:t>Learning rates 1e-4 and 1e-3  ·  8 epochs</a:t>
            </a:r>
            <a:endParaRPr lang="en-US" sz="1400" dirty="0"/>
          </a:p>
        </p:txBody>
      </p:sp>
      <p:sp>
        <p:nvSpPr>
          <p:cNvPr id="13" name="Text 11"/>
          <p:cNvSpPr txBox="1"/>
          <p:nvPr/>
        </p:nvSpPr>
        <p:spPr>
          <a:xfrm>
            <a:off x="4983480" y="2606040"/>
            <a:ext cx="3474720" cy="731520"/>
          </a:xfrm>
          <a:prstGeom prst="rect">
            <a:avLst/>
          </a:prstGeom>
          <a:noFill/>
          <a:ln/>
        </p:spPr>
        <p:txBody>
          <a:bodyPr wrap="square" lIns="0" tIns="0" rIns="0" bIns="0" rtlCol="0" anchor="ctr"/>
          <a:lstStyle/>
          <a:p>
            <a:pPr indent="0" marL="0">
              <a:buNone/>
            </a:pPr>
            <a:r>
              <a:rPr lang="en-US" sz="4400" b="1" dirty="0">
                <a:solidFill>
                  <a:srgbClr val="1F2A5C"/>
                </a:solidFill>
                <a:latin typeface="Cambria" pitchFamily="34" charset="0"/>
                <a:ea typeface="Cambria" pitchFamily="34" charset="-122"/>
                <a:cs typeface="Cambria" pitchFamily="34" charset="-120"/>
              </a:rPr>
              <a:t>86.3%</a:t>
            </a:r>
            <a:endParaRPr lang="en-US" sz="4400" dirty="0"/>
          </a:p>
        </p:txBody>
      </p:sp>
      <p:sp>
        <p:nvSpPr>
          <p:cNvPr id="14" name="Text 12"/>
          <p:cNvSpPr txBox="1"/>
          <p:nvPr/>
        </p:nvSpPr>
        <p:spPr>
          <a:xfrm>
            <a:off x="4983480" y="3337560"/>
            <a:ext cx="3474720" cy="365760"/>
          </a:xfrm>
          <a:prstGeom prst="rect">
            <a:avLst/>
          </a:prstGeom>
          <a:noFill/>
          <a:ln/>
        </p:spPr>
        <p:txBody>
          <a:bodyPr wrap="square" lIns="0" tIns="0" rIns="0" bIns="0" rtlCol="0" anchor="ctr"/>
          <a:lstStyle/>
          <a:p>
            <a:pPr indent="0" marL="0">
              <a:buNone/>
            </a:pPr>
            <a:r>
              <a:rPr lang="en-US" sz="1400" dirty="0">
                <a:solidFill>
                  <a:srgbClr val="2B2F45"/>
                </a:solidFill>
                <a:latin typeface="Calibri" pitchFamily="34" charset="0"/>
                <a:ea typeface="Calibri" pitchFamily="34" charset="-122"/>
                <a:cs typeface="Calibri" pitchFamily="34" charset="-120"/>
              </a:rPr>
              <a:t>best validation accuracy</a:t>
            </a:r>
            <a:endParaRPr lang="en-US" sz="1400" dirty="0"/>
          </a:p>
        </p:txBody>
      </p:sp>
      <p:sp>
        <p:nvSpPr>
          <p:cNvPr id="15" name="Shape 13"/>
          <p:cNvSpPr/>
          <p:nvPr/>
        </p:nvSpPr>
        <p:spPr>
          <a:xfrm>
            <a:off x="4407408" y="2423160"/>
            <a:ext cx="329184" cy="329184"/>
          </a:xfrm>
          <a:prstGeom prst="rightArrow">
            <a:avLst/>
          </a:prstGeom>
          <a:solidFill>
            <a:srgbClr val="C4472F"/>
          </a:solidFill>
          <a:ln w="12700">
            <a:solidFill>
              <a:srgbClr val="C4472F"/>
            </a:solidFill>
            <a:prstDash val="solid"/>
          </a:ln>
        </p:spPr>
      </p:sp>
      <p:sp>
        <p:nvSpPr>
          <p:cNvPr id="16" name="Text 14"/>
          <p:cNvSpPr txBox="1"/>
          <p:nvPr/>
        </p:nvSpPr>
        <p:spPr>
          <a:xfrm>
            <a:off x="457200" y="4160520"/>
            <a:ext cx="8229600" cy="365760"/>
          </a:xfrm>
          <a:prstGeom prst="rect">
            <a:avLst/>
          </a:prstGeom>
          <a:noFill/>
          <a:ln/>
        </p:spPr>
        <p:txBody>
          <a:bodyPr wrap="square" lIns="0" tIns="0" rIns="0" bIns="0" rtlCol="0" anchor="ctr"/>
          <a:lstStyle/>
          <a:p>
            <a:pPr indent="0" marL="0">
              <a:buNone/>
            </a:pPr>
            <a:r>
              <a:rPr lang="en-US" sz="1400" dirty="0">
                <a:solidFill>
                  <a:srgbClr val="2B2F45"/>
                </a:solidFill>
                <a:latin typeface="Calibri" pitchFamily="34" charset="0"/>
                <a:ea typeface="Calibri" pitchFamily="34" charset="-122"/>
                <a:cs typeface="Calibri" pitchFamily="34" charset="-120"/>
              </a:rPr>
              <a:t>Optimiser: Adam   ·   Loss: cross-entropy   ·   Batch size: 32</a:t>
            </a:r>
            <a:endParaRPr lang="en-US" sz="14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7A7F99"/>
                </a:solidFill>
                <a:latin typeface="Calibri"/>
                <a:ea typeface="Calibri"/>
                <a:cs typeface="Calibri"/>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200" b="1" dirty="0">
                <a:solidFill>
                  <a:srgbClr val="1F2A5C"/>
                </a:solidFill>
                <a:latin typeface="Cambria" pitchFamily="34" charset="0"/>
                <a:ea typeface="Cambria" pitchFamily="34" charset="-122"/>
                <a:cs typeface="Cambria" pitchFamily="34" charset="-120"/>
              </a:rPr>
              <a:t>Training results</a:t>
            </a:r>
            <a:endParaRPr lang="en-US" sz="3200" dirty="0"/>
          </a:p>
        </p:txBody>
      </p:sp>
      <p:pic>
        <p:nvPicPr>
          <p:cNvPr id="3" name="Image 0" descr="/home/claude/report/training_curves.png">    </p:cNvPr>
          <p:cNvPicPr>
            <a:picLocks noChangeAspect="1"/>
          </p:cNvPicPr>
          <p:nvPr/>
        </p:nvPicPr>
        <p:blipFill>
          <a:blip r:embed="rId1"/>
          <a:stretch>
            <a:fillRect/>
          </a:stretch>
        </p:blipFill>
        <p:spPr>
          <a:xfrm>
            <a:off x="457200" y="1188720"/>
            <a:ext cx="5486400" cy="1951450"/>
          </a:xfrm>
          <a:prstGeom prst="rect">
            <a:avLst/>
          </a:prstGeom>
        </p:spPr>
      </p:pic>
      <p:sp>
        <p:nvSpPr>
          <p:cNvPr id="4" name="Text 1"/>
          <p:cNvSpPr txBox="1"/>
          <p:nvPr/>
        </p:nvSpPr>
        <p:spPr>
          <a:xfrm>
            <a:off x="457200" y="3200400"/>
            <a:ext cx="5486400" cy="457200"/>
          </a:xfrm>
          <a:prstGeom prst="rect">
            <a:avLst/>
          </a:prstGeom>
          <a:noFill/>
          <a:ln/>
        </p:spPr>
        <p:txBody>
          <a:bodyPr wrap="square" lIns="0" tIns="0" rIns="0" bIns="0" rtlCol="0" anchor="t"/>
          <a:lstStyle/>
          <a:p>
            <a:pPr indent="0" marL="0">
              <a:buNone/>
            </a:pPr>
            <a:r>
              <a:rPr lang="en-US" sz="1100" i="1" dirty="0">
                <a:solidFill>
                  <a:srgbClr val="5A5F78"/>
                </a:solidFill>
                <a:latin typeface="Calibri" pitchFamily="34" charset="0"/>
                <a:ea typeface="Calibri" pitchFamily="34" charset="-122"/>
                <a:cs typeface="Calibri" pitchFamily="34" charset="-120"/>
              </a:rPr>
              <a:t>Left: training loss.  Right: validation accuracy.  Fine-tuning starts at 6 on the x-axis.</a:t>
            </a:r>
            <a:endParaRPr lang="en-US" sz="1100" dirty="0"/>
          </a:p>
        </p:txBody>
      </p:sp>
      <p:sp>
        <p:nvSpPr>
          <p:cNvPr id="5" name="Text 2"/>
          <p:cNvSpPr txBox="1"/>
          <p:nvPr/>
        </p:nvSpPr>
        <p:spPr>
          <a:xfrm>
            <a:off x="6217920" y="1188720"/>
            <a:ext cx="2560320" cy="310896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2B2F45"/>
                </a:solidFill>
                <a:latin typeface="Calibri" pitchFamily="34" charset="0"/>
                <a:ea typeface="Calibri" pitchFamily="34" charset="-122"/>
                <a:cs typeface="Calibri" pitchFamily="34" charset="-120"/>
              </a:rPr>
              <a:t>Accuracy jumps once layer4 is fine-tuned</a:t>
            </a:r>
            <a:endParaRPr lang="en-US" sz="1600" dirty="0"/>
          </a:p>
          <a:p>
            <a:pPr marL="342900" indent="-342900">
              <a:spcAft>
                <a:spcPts val="800"/>
              </a:spcAft>
              <a:buSzPct val="100000"/>
              <a:buChar char="•"/>
            </a:pPr>
            <a:r>
              <a:rPr lang="en-US" sz="1600" dirty="0">
                <a:solidFill>
                  <a:srgbClr val="2B2F45"/>
                </a:solidFill>
                <a:latin typeface="Calibri" pitchFamily="34" charset="0"/>
                <a:ea typeface="Calibri" pitchFamily="34" charset="-122"/>
                <a:cs typeface="Calibri" pitchFamily="34" charset="-120"/>
              </a:rPr>
              <a:t>Loss falls from 1.73 to 0.05</a:t>
            </a:r>
            <a:endParaRPr lang="en-US" sz="1600" dirty="0"/>
          </a:p>
          <a:p>
            <a:pPr marL="342900" indent="-342900">
              <a:spcAft>
                <a:spcPts val="800"/>
              </a:spcAft>
              <a:buSzPct val="100000"/>
              <a:buChar char="•"/>
            </a:pPr>
            <a:r>
              <a:rPr lang="en-US" sz="1600" dirty="0">
                <a:solidFill>
                  <a:srgbClr val="2B2F45"/>
                </a:solidFill>
                <a:latin typeface="Calibri" pitchFamily="34" charset="0"/>
                <a:ea typeface="Calibri" pitchFamily="34" charset="-122"/>
                <a:cs typeface="Calibri" pitchFamily="34" charset="-120"/>
              </a:rPr>
              <a:t>Validation accuracy levels off at 84–86%: mild overfitting</a:t>
            </a:r>
            <a:endParaRPr lang="en-US" sz="16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7A7F99"/>
                </a:solidFill>
                <a:latin typeface="Calibri"/>
                <a:ea typeface="Calibri"/>
                <a:cs typeface="Calibri"/>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200" b="1" dirty="0">
                <a:solidFill>
                  <a:srgbClr val="1F2A5C"/>
                </a:solidFill>
                <a:latin typeface="Cambria" pitchFamily="34" charset="0"/>
                <a:ea typeface="Cambria" pitchFamily="34" charset="-122"/>
                <a:cs typeface="Cambria" pitchFamily="34" charset="-120"/>
              </a:rPr>
              <a:t>Test results</a:t>
            </a:r>
            <a:endParaRPr lang="en-US" sz="3200" dirty="0"/>
          </a:p>
        </p:txBody>
      </p:sp>
      <p:pic>
        <p:nvPicPr>
          <p:cNvPr id="3" name="Image 0" descr="/home/claude/report/confusion_matrix.png">    </p:cNvPr>
          <p:cNvPicPr>
            <a:picLocks noChangeAspect="1"/>
          </p:cNvPicPr>
          <p:nvPr/>
        </p:nvPicPr>
        <p:blipFill>
          <a:blip r:embed="rId1"/>
          <a:stretch>
            <a:fillRect/>
          </a:stretch>
        </p:blipFill>
        <p:spPr>
          <a:xfrm>
            <a:off x="457200" y="1097280"/>
            <a:ext cx="3710482" cy="3566160"/>
          </a:xfrm>
          <a:prstGeom prst="rect">
            <a:avLst/>
          </a:prstGeom>
        </p:spPr>
      </p:pic>
      <p:sp>
        <p:nvSpPr>
          <p:cNvPr id="4" name="Shape 1"/>
          <p:cNvSpPr/>
          <p:nvPr/>
        </p:nvSpPr>
        <p:spPr>
          <a:xfrm>
            <a:off x="4663440" y="1188720"/>
            <a:ext cx="1920240" cy="1371600"/>
          </a:xfrm>
          <a:prstGeom prst="roundRect">
            <a:avLst>
              <a:gd name="adj" fmla="val 5333"/>
            </a:avLst>
          </a:prstGeom>
          <a:solidFill>
            <a:srgbClr val="EEF0F8"/>
          </a:solidFill>
          <a:ln w="12700">
            <a:solidFill>
              <a:srgbClr val="EEF0F8"/>
            </a:solidFill>
            <a:prstDash val="solid"/>
          </a:ln>
        </p:spPr>
      </p:sp>
      <p:sp>
        <p:nvSpPr>
          <p:cNvPr id="5" name="Text 2"/>
          <p:cNvSpPr txBox="1"/>
          <p:nvPr/>
        </p:nvSpPr>
        <p:spPr>
          <a:xfrm>
            <a:off x="4663440" y="1280160"/>
            <a:ext cx="1920240" cy="713232"/>
          </a:xfrm>
          <a:prstGeom prst="rect">
            <a:avLst/>
          </a:prstGeom>
          <a:noFill/>
          <a:ln/>
        </p:spPr>
        <p:txBody>
          <a:bodyPr wrap="square" lIns="0" tIns="0" rIns="0" bIns="0" rtlCol="0" anchor="ctr"/>
          <a:lstStyle/>
          <a:p>
            <a:pPr algn="ctr" indent="0" marL="0">
              <a:buNone/>
            </a:pPr>
            <a:r>
              <a:rPr lang="en-US" sz="3600" b="1" dirty="0">
                <a:solidFill>
                  <a:srgbClr val="C4472F"/>
                </a:solidFill>
                <a:latin typeface="Cambria" pitchFamily="34" charset="0"/>
                <a:ea typeface="Cambria" pitchFamily="34" charset="-122"/>
                <a:cs typeface="Cambria" pitchFamily="34" charset="-120"/>
              </a:rPr>
              <a:t>86.5%</a:t>
            </a:r>
            <a:endParaRPr lang="en-US" sz="3600" dirty="0"/>
          </a:p>
        </p:txBody>
      </p:sp>
      <p:sp>
        <p:nvSpPr>
          <p:cNvPr id="6" name="Text 3"/>
          <p:cNvSpPr txBox="1"/>
          <p:nvPr/>
        </p:nvSpPr>
        <p:spPr>
          <a:xfrm>
            <a:off x="4754880" y="1984248"/>
            <a:ext cx="1737360" cy="521208"/>
          </a:xfrm>
          <a:prstGeom prst="rect">
            <a:avLst/>
          </a:prstGeom>
          <a:noFill/>
          <a:ln/>
        </p:spPr>
        <p:txBody>
          <a:bodyPr wrap="square" lIns="0" tIns="0" rIns="0" bIns="0" rtlCol="0" anchor="t"/>
          <a:lstStyle/>
          <a:p>
            <a:pPr algn="ctr" indent="0" marL="0">
              <a:buNone/>
            </a:pPr>
            <a:r>
              <a:rPr lang="en-US" sz="1400" dirty="0">
                <a:solidFill>
                  <a:srgbClr val="2B2F45"/>
                </a:solidFill>
                <a:latin typeface="Calibri" pitchFamily="34" charset="0"/>
                <a:ea typeface="Calibri" pitchFamily="34" charset="-122"/>
                <a:cs typeface="Calibri" pitchFamily="34" charset="-120"/>
              </a:rPr>
              <a:t>accuracy (415 of 480)</a:t>
            </a:r>
            <a:endParaRPr lang="en-US" sz="1400" dirty="0"/>
          </a:p>
        </p:txBody>
      </p:sp>
      <p:sp>
        <p:nvSpPr>
          <p:cNvPr id="7" name="Shape 4"/>
          <p:cNvSpPr/>
          <p:nvPr/>
        </p:nvSpPr>
        <p:spPr>
          <a:xfrm>
            <a:off x="6766560" y="1188720"/>
            <a:ext cx="1920240" cy="1371600"/>
          </a:xfrm>
          <a:prstGeom prst="roundRect">
            <a:avLst>
              <a:gd name="adj" fmla="val 5333"/>
            </a:avLst>
          </a:prstGeom>
          <a:solidFill>
            <a:srgbClr val="EEF0F8"/>
          </a:solidFill>
          <a:ln w="12700">
            <a:solidFill>
              <a:srgbClr val="EEF0F8"/>
            </a:solidFill>
            <a:prstDash val="solid"/>
          </a:ln>
        </p:spPr>
      </p:sp>
      <p:sp>
        <p:nvSpPr>
          <p:cNvPr id="8" name="Text 5"/>
          <p:cNvSpPr txBox="1"/>
          <p:nvPr/>
        </p:nvSpPr>
        <p:spPr>
          <a:xfrm>
            <a:off x="6766560" y="1280160"/>
            <a:ext cx="1920240" cy="713232"/>
          </a:xfrm>
          <a:prstGeom prst="rect">
            <a:avLst/>
          </a:prstGeom>
          <a:noFill/>
          <a:ln/>
        </p:spPr>
        <p:txBody>
          <a:bodyPr wrap="square" lIns="0" tIns="0" rIns="0" bIns="0" rtlCol="0" anchor="ctr"/>
          <a:lstStyle/>
          <a:p>
            <a:pPr algn="ctr" indent="0" marL="0">
              <a:buNone/>
            </a:pPr>
            <a:r>
              <a:rPr lang="en-US" sz="3600" b="1" dirty="0">
                <a:solidFill>
                  <a:srgbClr val="C4472F"/>
                </a:solidFill>
                <a:latin typeface="Cambria" pitchFamily="34" charset="0"/>
                <a:ea typeface="Cambria" pitchFamily="34" charset="-122"/>
                <a:cs typeface="Cambria" pitchFamily="34" charset="-120"/>
              </a:rPr>
              <a:t>0.86</a:t>
            </a:r>
            <a:endParaRPr lang="en-US" sz="3600" dirty="0"/>
          </a:p>
        </p:txBody>
      </p:sp>
      <p:sp>
        <p:nvSpPr>
          <p:cNvPr id="9" name="Text 6"/>
          <p:cNvSpPr txBox="1"/>
          <p:nvPr/>
        </p:nvSpPr>
        <p:spPr>
          <a:xfrm>
            <a:off x="6858000" y="1984248"/>
            <a:ext cx="1737360" cy="521208"/>
          </a:xfrm>
          <a:prstGeom prst="rect">
            <a:avLst/>
          </a:prstGeom>
          <a:noFill/>
          <a:ln/>
        </p:spPr>
        <p:txBody>
          <a:bodyPr wrap="square" lIns="0" tIns="0" rIns="0" bIns="0" rtlCol="0" anchor="t"/>
          <a:lstStyle/>
          <a:p>
            <a:pPr algn="ctr" indent="0" marL="0">
              <a:buNone/>
            </a:pPr>
            <a:r>
              <a:rPr lang="en-US" sz="1400" dirty="0">
                <a:solidFill>
                  <a:srgbClr val="2B2F45"/>
                </a:solidFill>
                <a:latin typeface="Calibri" pitchFamily="34" charset="0"/>
                <a:ea typeface="Calibri" pitchFamily="34" charset="-122"/>
                <a:cs typeface="Calibri" pitchFamily="34" charset="-120"/>
              </a:rPr>
              <a:t>macro F1-score</a:t>
            </a:r>
            <a:endParaRPr lang="en-US" sz="1400" dirty="0"/>
          </a:p>
        </p:txBody>
      </p:sp>
      <p:sp>
        <p:nvSpPr>
          <p:cNvPr id="10" name="Text 7"/>
          <p:cNvSpPr txBox="1"/>
          <p:nvPr/>
        </p:nvSpPr>
        <p:spPr>
          <a:xfrm>
            <a:off x="4663440" y="2834640"/>
            <a:ext cx="4023360" cy="1463040"/>
          </a:xfrm>
          <a:prstGeom prst="rect">
            <a:avLst/>
          </a:prstGeom>
          <a:noFill/>
          <a:ln/>
        </p:spPr>
        <p:txBody>
          <a:bodyPr wrap="square" lIns="0" tIns="0" rIns="0" bIns="0" rtlCol="0" anchor="t"/>
          <a:lstStyle/>
          <a:p>
            <a:pPr indent="0" marL="0">
              <a:buNone/>
            </a:pPr>
            <a:r>
              <a:rPr lang="en-US" sz="1600" dirty="0">
                <a:solidFill>
                  <a:srgbClr val="2B2F45"/>
                </a:solidFill>
                <a:latin typeface="Calibri" pitchFamily="34" charset="0"/>
                <a:ea typeface="Calibri" pitchFamily="34" charset="-122"/>
                <a:cs typeface="Calibri" pitchFamily="34" charset="-120"/>
              </a:rPr>
              <a:t>Each row is the true craft and each column is the predicted craft. Numbers on the diagonal are correct predictions.</a:t>
            </a:r>
            <a:endParaRPr lang="en-US" sz="16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7A7F99"/>
                </a:solidFill>
                <a:latin typeface="Calibri"/>
                <a:ea typeface="Calibri"/>
                <a:cs typeface="Calibri"/>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200" b="1" dirty="0">
                <a:solidFill>
                  <a:srgbClr val="1F2A5C"/>
                </a:solidFill>
                <a:latin typeface="Cambria" pitchFamily="34" charset="0"/>
                <a:ea typeface="Cambria" pitchFamily="34" charset="-122"/>
                <a:cs typeface="Cambria" pitchFamily="34" charset="-120"/>
              </a:rPr>
              <a:t>Which crafts are easy or hard?</a:t>
            </a:r>
            <a:endParaRPr lang="en-US" sz="3200" dirty="0"/>
          </a:p>
        </p:txBody>
      </p:sp>
      <p:graphicFrame>
        <p:nvGraphicFramePr>
          <p:cNvPr id="3" name="Chart 0" descr=""/>
          <p:cNvGraphicFramePr/>
          <p:nvPr/>
        </p:nvGraphicFramePr>
        <p:xfrm>
          <a:off x="365760" y="1051560"/>
          <a:ext cx="5120640" cy="356616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5760720" y="1188720"/>
            <a:ext cx="2926080" cy="329184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2B2F45"/>
                </a:solidFill>
                <a:latin typeface="Calibri" pitchFamily="34" charset="0"/>
                <a:ea typeface="Calibri" pitchFamily="34" charset="-122"/>
                <a:cs typeface="Calibri" pitchFamily="34" charset="-120"/>
              </a:rPr>
              <a:t>Easy: oxidised metal craft looks very different from the fabrics</a:t>
            </a:r>
            <a:endParaRPr lang="en-US" sz="1600" dirty="0"/>
          </a:p>
          <a:p>
            <a:pPr marL="342900" indent="-342900">
              <a:spcAft>
                <a:spcPts val="800"/>
              </a:spcAft>
              <a:buSzPct val="100000"/>
              <a:buChar char="•"/>
            </a:pPr>
            <a:r>
              <a:rPr lang="en-US" sz="1600" dirty="0">
                <a:solidFill>
                  <a:srgbClr val="2B2F45"/>
                </a:solidFill>
                <a:latin typeface="Calibri" pitchFamily="34" charset="0"/>
                <a:ea typeface="Calibri" pitchFamily="34" charset="-122"/>
                <a:cs typeface="Calibri" pitchFamily="34" charset="-120"/>
              </a:rPr>
              <a:t>Hard: sanganeri and batik are block prints that look alike</a:t>
            </a:r>
            <a:endParaRPr lang="en-US" sz="1600" dirty="0"/>
          </a:p>
          <a:p>
            <a:pPr marL="342900" indent="-342900">
              <a:spcAft>
                <a:spcPts val="800"/>
              </a:spcAft>
              <a:buSzPct val="100000"/>
              <a:buChar char="•"/>
            </a:pPr>
            <a:r>
              <a:rPr lang="en-US" sz="1600" dirty="0">
                <a:solidFill>
                  <a:srgbClr val="2B2F45"/>
                </a:solidFill>
                <a:latin typeface="Calibri" pitchFamily="34" charset="0"/>
                <a:ea typeface="Calibri" pitchFamily="34" charset="-122"/>
                <a:cs typeface="Calibri" pitchFamily="34" charset="-120"/>
              </a:rPr>
              <a:t>Biggest mix-up: sanganeri predicted as kalamkari (7 images)</a:t>
            </a:r>
            <a:endParaRPr lang="en-US" sz="16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7A7F99"/>
                </a:solidFill>
                <a:latin typeface="Calibri"/>
                <a:ea typeface="Calibri"/>
                <a:cs typeface="Calibri"/>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200" b="1" dirty="0">
                <a:solidFill>
                  <a:srgbClr val="1F2A5C"/>
                </a:solidFill>
                <a:latin typeface="Cambria" pitchFamily="34" charset="0"/>
                <a:ea typeface="Cambria" pitchFamily="34" charset="-122"/>
                <a:cs typeface="Cambria" pitchFamily="34" charset="-120"/>
              </a:rPr>
              <a:t>Demo</a:t>
            </a:r>
            <a:endParaRPr lang="en-US" sz="3200" dirty="0"/>
          </a:p>
        </p:txBody>
      </p:sp>
      <p:pic>
        <p:nvPicPr>
          <p:cNvPr id="3" name="Image 0" descr="/home/claude/report/demo_output.png">    </p:cNvPr>
          <p:cNvPicPr>
            <a:picLocks noChangeAspect="1"/>
          </p:cNvPicPr>
          <p:nvPr/>
        </p:nvPicPr>
        <p:blipFill>
          <a:blip r:embed="rId1"/>
          <a:stretch>
            <a:fillRect/>
          </a:stretch>
        </p:blipFill>
        <p:spPr>
          <a:xfrm>
            <a:off x="457200" y="1188720"/>
            <a:ext cx="5120640" cy="1944039"/>
          </a:xfrm>
          <a:prstGeom prst="rect">
            <a:avLst/>
          </a:prstGeom>
        </p:spPr>
      </p:pic>
      <p:sp>
        <p:nvSpPr>
          <p:cNvPr id="4" name="Text 1"/>
          <p:cNvSpPr txBox="1"/>
          <p:nvPr/>
        </p:nvSpPr>
        <p:spPr>
          <a:xfrm>
            <a:off x="457200" y="3200400"/>
            <a:ext cx="5120640" cy="274320"/>
          </a:xfrm>
          <a:prstGeom prst="rect">
            <a:avLst/>
          </a:prstGeom>
          <a:noFill/>
          <a:ln/>
        </p:spPr>
        <p:txBody>
          <a:bodyPr wrap="square" lIns="0" tIns="0" rIns="0" bIns="0" rtlCol="0" anchor="ctr"/>
          <a:lstStyle/>
          <a:p>
            <a:pPr indent="0" marL="0">
              <a:buNone/>
            </a:pPr>
            <a:r>
              <a:rPr lang="en-US" sz="1100" i="1" dirty="0">
                <a:solidFill>
                  <a:srgbClr val="5A5F78"/>
                </a:solidFill>
                <a:latin typeface="Calibri" pitchFamily="34" charset="0"/>
                <a:ea typeface="Calibri" pitchFamily="34" charset="-122"/>
                <a:cs typeface="Calibri" pitchFamily="34" charset="-120"/>
              </a:rPr>
              <a:t>Gradio interface: top classes and the catalog card.</a:t>
            </a:r>
            <a:endParaRPr lang="en-US" sz="1100" dirty="0"/>
          </a:p>
        </p:txBody>
      </p:sp>
      <p:sp>
        <p:nvSpPr>
          <p:cNvPr id="5" name="Text 2"/>
          <p:cNvSpPr txBox="1"/>
          <p:nvPr/>
        </p:nvSpPr>
        <p:spPr>
          <a:xfrm>
            <a:off x="5852160" y="1188720"/>
            <a:ext cx="2834640" cy="219456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2B2F45"/>
                </a:solidFill>
                <a:latin typeface="Calibri" pitchFamily="34" charset="0"/>
                <a:ea typeface="Calibri" pitchFamily="34" charset="-122"/>
                <a:cs typeface="Calibri" pitchFamily="34" charset="-120"/>
              </a:rPr>
              <a:t>Upload a photo</a:t>
            </a:r>
            <a:endParaRPr lang="en-US" sz="1600" dirty="0"/>
          </a:p>
          <a:p>
            <a:pPr marL="342900" indent="-342900">
              <a:spcAft>
                <a:spcPts val="800"/>
              </a:spcAft>
              <a:buSzPct val="100000"/>
              <a:buChar char="•"/>
            </a:pPr>
            <a:r>
              <a:rPr lang="en-US" sz="1600" dirty="0">
                <a:solidFill>
                  <a:srgbClr val="2B2F45"/>
                </a:solidFill>
                <a:latin typeface="Calibri" pitchFamily="34" charset="0"/>
                <a:ea typeface="Calibri" pitchFamily="34" charset="-122"/>
                <a:cs typeface="Calibri" pitchFamily="34" charset="-120"/>
              </a:rPr>
              <a:t>See the top 3 predicted crafts</a:t>
            </a:r>
            <a:endParaRPr lang="en-US" sz="1600" dirty="0"/>
          </a:p>
          <a:p>
            <a:pPr marL="342900" indent="-342900">
              <a:spcAft>
                <a:spcPts val="800"/>
              </a:spcAft>
              <a:buSzPct val="100000"/>
              <a:buChar char="•"/>
            </a:pPr>
            <a:r>
              <a:rPr lang="en-US" sz="1600" dirty="0">
                <a:solidFill>
                  <a:srgbClr val="2B2F45"/>
                </a:solidFill>
                <a:latin typeface="Calibri" pitchFamily="34" charset="0"/>
                <a:ea typeface="Calibri" pitchFamily="34" charset="-122"/>
                <a:cs typeface="Calibri" pitchFamily="34" charset="-120"/>
              </a:rPr>
              <a:t>Get a catalog card with name, category, description and tags</a:t>
            </a:r>
            <a:endParaRPr lang="en-US" sz="1600" dirty="0"/>
          </a:p>
        </p:txBody>
      </p:sp>
      <p:sp>
        <p:nvSpPr>
          <p:cNvPr id="6" name="Shape 3"/>
          <p:cNvSpPr/>
          <p:nvPr/>
        </p:nvSpPr>
        <p:spPr>
          <a:xfrm>
            <a:off x="457200" y="3657600"/>
            <a:ext cx="8229600" cy="914400"/>
          </a:xfrm>
          <a:prstGeom prst="roundRect">
            <a:avLst>
              <a:gd name="adj" fmla="val 8000"/>
            </a:avLst>
          </a:prstGeom>
          <a:solidFill>
            <a:srgbClr val="F6DDD7"/>
          </a:solidFill>
          <a:ln w="12700">
            <a:solidFill>
              <a:srgbClr val="F6DDD7"/>
            </a:solidFill>
            <a:prstDash val="solid"/>
          </a:ln>
        </p:spPr>
      </p:sp>
      <p:sp>
        <p:nvSpPr>
          <p:cNvPr id="7" name="Text 4"/>
          <p:cNvSpPr txBox="1"/>
          <p:nvPr/>
        </p:nvSpPr>
        <p:spPr>
          <a:xfrm>
            <a:off x="640080" y="3657600"/>
            <a:ext cx="7863840" cy="914400"/>
          </a:xfrm>
          <a:prstGeom prst="rect">
            <a:avLst/>
          </a:prstGeom>
          <a:noFill/>
          <a:ln/>
        </p:spPr>
        <p:txBody>
          <a:bodyPr wrap="square" lIns="0" tIns="0" rIns="0" bIns="0" rtlCol="0" anchor="ctr"/>
          <a:lstStyle/>
          <a:p>
            <a:pPr indent="0" marL="0">
              <a:buNone/>
            </a:pPr>
            <a:r>
              <a:rPr lang="en-US" sz="1400" dirty="0">
                <a:solidFill>
                  <a:srgbClr val="2B2F45"/>
                </a:solidFill>
                <a:latin typeface="Calibri" pitchFamily="34" charset="0"/>
                <a:ea typeface="Calibri" pitchFamily="34" charset="-122"/>
                <a:cs typeface="Calibri" pitchFamily="34" charset="-120"/>
              </a:rPr>
              <a:t>This saree was predicted as batik with 100% confidence, which looks wrong. The model is sometimes very sure and still wrong.</a:t>
            </a:r>
            <a:endParaRPr lang="en-US" sz="14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7A7F99"/>
                </a:solidFill>
                <a:latin typeface="Calibri"/>
                <a:ea typeface="Calibri"/>
                <a:cs typeface="Calibri"/>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200" b="1" dirty="0">
                <a:solidFill>
                  <a:srgbClr val="1F2A5C"/>
                </a:solidFill>
                <a:latin typeface="Cambria" pitchFamily="34" charset="0"/>
                <a:ea typeface="Cambria" pitchFamily="34" charset="-122"/>
                <a:cs typeface="Cambria" pitchFamily="34" charset="-120"/>
              </a:rPr>
              <a:t>Limitations and future scope</a:t>
            </a:r>
            <a:endParaRPr lang="en-US" sz="3200" dirty="0"/>
          </a:p>
        </p:txBody>
      </p:sp>
      <p:sp>
        <p:nvSpPr>
          <p:cNvPr id="3" name="Shape 1"/>
          <p:cNvSpPr/>
          <p:nvPr/>
        </p:nvSpPr>
        <p:spPr>
          <a:xfrm>
            <a:off x="457200" y="1188720"/>
            <a:ext cx="3931920" cy="2468880"/>
          </a:xfrm>
          <a:prstGeom prst="roundRect">
            <a:avLst>
              <a:gd name="adj" fmla="val 2963"/>
            </a:avLst>
          </a:prstGeom>
          <a:solidFill>
            <a:srgbClr val="EEF0F8"/>
          </a:solidFill>
          <a:ln w="12700">
            <a:solidFill>
              <a:srgbClr val="EEF0F8"/>
            </a:solidFill>
            <a:prstDash val="solid"/>
          </a:ln>
        </p:spPr>
      </p:sp>
      <p:sp>
        <p:nvSpPr>
          <p:cNvPr id="4" name="Text 2"/>
          <p:cNvSpPr txBox="1"/>
          <p:nvPr/>
        </p:nvSpPr>
        <p:spPr>
          <a:xfrm>
            <a:off x="731520" y="1325880"/>
            <a:ext cx="3474720" cy="2194560"/>
          </a:xfrm>
          <a:prstGeom prst="rect">
            <a:avLst/>
          </a:prstGeom>
          <a:noFill/>
          <a:ln/>
        </p:spPr>
        <p:txBody>
          <a:bodyPr wrap="square" lIns="0" tIns="0" rIns="0" bIns="0" rtlCol="0" anchor="t"/>
          <a:lstStyle/>
          <a:p>
            <a:pPr indent="0" marL="0">
              <a:spcAft>
                <a:spcPts val="800"/>
              </a:spcAft>
              <a:buNone/>
            </a:pPr>
            <a:r>
              <a:rPr lang="en-US" sz="2000" b="1" dirty="0">
                <a:solidFill>
                  <a:srgbClr val="C4472F"/>
                </a:solidFill>
                <a:latin typeface="Calibri" pitchFamily="34" charset="0"/>
                <a:ea typeface="Calibri" pitchFamily="34" charset="-122"/>
                <a:cs typeface="Calibri" pitchFamily="34" charset="-120"/>
              </a:rPr>
              <a:t>Limitations</a:t>
            </a:r>
            <a:endParaRPr lang="en-US" sz="2000" dirty="0"/>
          </a:p>
          <a:p>
            <a:pPr marL="342900" indent="-342900">
              <a:spcAft>
                <a:spcPts val="800"/>
              </a:spcAft>
              <a:buSzPct val="100000"/>
              <a:buChar char="•"/>
            </a:pPr>
            <a:r>
              <a:rPr lang="en-US" sz="1600" dirty="0">
                <a:solidFill>
                  <a:srgbClr val="2B2F45"/>
                </a:solidFill>
                <a:latin typeface="Calibri" pitchFamily="34" charset="0"/>
                <a:ea typeface="Calibri" pitchFamily="34" charset="-122"/>
                <a:cs typeface="Calibri" pitchFamily="34" charset="-120"/>
              </a:rPr>
              <a:t>Web labels can be noisy</a:t>
            </a:r>
            <a:endParaRPr lang="en-US" sz="2000" dirty="0"/>
          </a:p>
          <a:p>
            <a:pPr marL="342900" indent="-342900">
              <a:spcAft>
                <a:spcPts val="800"/>
              </a:spcAft>
              <a:buSzPct val="100000"/>
              <a:buChar char="•"/>
            </a:pPr>
            <a:r>
              <a:rPr lang="en-US" sz="1600" dirty="0">
                <a:solidFill>
                  <a:srgbClr val="2B2F45"/>
                </a:solidFill>
                <a:latin typeface="Calibri" pitchFamily="34" charset="0"/>
                <a:ea typeface="Calibri" pitchFamily="34" charset="-122"/>
                <a:cs typeface="Calibri" pitchFamily="34" charset="-120"/>
              </a:rPr>
              <a:t>Only 8 crafts and one data split</a:t>
            </a:r>
            <a:endParaRPr lang="en-US" sz="2000" dirty="0"/>
          </a:p>
          <a:p>
            <a:pPr marL="342900" indent="-342900">
              <a:spcAft>
                <a:spcPts val="800"/>
              </a:spcAft>
              <a:buSzPct val="100000"/>
              <a:buChar char="•"/>
            </a:pPr>
            <a:r>
              <a:rPr lang="en-US" sz="1600" dirty="0">
                <a:solidFill>
                  <a:srgbClr val="2B2F45"/>
                </a:solidFill>
                <a:latin typeface="Calibri" pitchFamily="34" charset="0"/>
                <a:ea typeface="Calibri" pitchFamily="34" charset="-122"/>
                <a:cs typeface="Calibri" pitchFamily="34" charset="-120"/>
              </a:rPr>
              <a:t>Overconfident predictions</a:t>
            </a:r>
            <a:endParaRPr lang="en-US" sz="2000" dirty="0"/>
          </a:p>
          <a:p>
            <a:pPr marL="342900" indent="-342900">
              <a:spcAft>
                <a:spcPts val="800"/>
              </a:spcAft>
              <a:buSzPct val="100000"/>
              <a:buChar char="•"/>
            </a:pPr>
            <a:r>
              <a:rPr lang="en-US" sz="1600" dirty="0">
                <a:solidFill>
                  <a:srgbClr val="2B2F45"/>
                </a:solidFill>
                <a:latin typeface="Calibri" pitchFamily="34" charset="0"/>
                <a:ea typeface="Calibri" pitchFamily="34" charset="-122"/>
                <a:cs typeface="Calibri" pitchFamily="34" charset="-120"/>
              </a:rPr>
              <a:t>Descriptions are fixed templates</a:t>
            </a:r>
            <a:endParaRPr lang="en-US" sz="2000" dirty="0"/>
          </a:p>
        </p:txBody>
      </p:sp>
      <p:sp>
        <p:nvSpPr>
          <p:cNvPr id="5" name="Shape 3"/>
          <p:cNvSpPr/>
          <p:nvPr/>
        </p:nvSpPr>
        <p:spPr>
          <a:xfrm>
            <a:off x="4754880" y="1188720"/>
            <a:ext cx="3931920" cy="2468880"/>
          </a:xfrm>
          <a:prstGeom prst="roundRect">
            <a:avLst>
              <a:gd name="adj" fmla="val 2963"/>
            </a:avLst>
          </a:prstGeom>
          <a:solidFill>
            <a:srgbClr val="EEF0F8"/>
          </a:solidFill>
          <a:ln w="12700">
            <a:solidFill>
              <a:srgbClr val="EEF0F8"/>
            </a:solidFill>
            <a:prstDash val="solid"/>
          </a:ln>
        </p:spPr>
      </p:sp>
      <p:sp>
        <p:nvSpPr>
          <p:cNvPr id="6" name="Text 4"/>
          <p:cNvSpPr txBox="1"/>
          <p:nvPr/>
        </p:nvSpPr>
        <p:spPr>
          <a:xfrm>
            <a:off x="5029200" y="1325880"/>
            <a:ext cx="3474720" cy="2194560"/>
          </a:xfrm>
          <a:prstGeom prst="rect">
            <a:avLst/>
          </a:prstGeom>
          <a:noFill/>
          <a:ln/>
        </p:spPr>
        <p:txBody>
          <a:bodyPr wrap="square" lIns="0" tIns="0" rIns="0" bIns="0" rtlCol="0" anchor="t"/>
          <a:lstStyle/>
          <a:p>
            <a:pPr indent="0" marL="0">
              <a:spcAft>
                <a:spcPts val="800"/>
              </a:spcAft>
              <a:buNone/>
            </a:pPr>
            <a:r>
              <a:rPr lang="en-US" sz="2000" b="1" dirty="0">
                <a:solidFill>
                  <a:srgbClr val="C4472F"/>
                </a:solidFill>
                <a:latin typeface="Calibri" pitchFamily="34" charset="0"/>
                <a:ea typeface="Calibri" pitchFamily="34" charset="-122"/>
                <a:cs typeface="Calibri" pitchFamily="34" charset="-120"/>
              </a:rPr>
              <a:t>Future scope</a:t>
            </a:r>
            <a:endParaRPr lang="en-US" sz="2000" dirty="0"/>
          </a:p>
          <a:p>
            <a:pPr marL="342900" indent="-342900">
              <a:spcAft>
                <a:spcPts val="800"/>
              </a:spcAft>
              <a:buSzPct val="100000"/>
              <a:buChar char="•"/>
            </a:pPr>
            <a:r>
              <a:rPr lang="en-US" sz="1600" dirty="0">
                <a:solidFill>
                  <a:srgbClr val="2B2F45"/>
                </a:solidFill>
                <a:latin typeface="Calibri" pitchFamily="34" charset="0"/>
                <a:ea typeface="Calibri" pitchFamily="34" charset="-122"/>
                <a:cs typeface="Calibri" pitchFamily="34" charset="-120"/>
              </a:rPr>
              <a:t>Try EfficientNet or MobileNetV2</a:t>
            </a:r>
            <a:endParaRPr lang="en-US" sz="2000" dirty="0"/>
          </a:p>
          <a:p>
            <a:pPr marL="342900" indent="-342900">
              <a:spcAft>
                <a:spcPts val="800"/>
              </a:spcAft>
              <a:buSzPct val="100000"/>
              <a:buChar char="•"/>
            </a:pPr>
            <a:r>
              <a:rPr lang="en-US" sz="1600" dirty="0">
                <a:solidFill>
                  <a:srgbClr val="2B2F45"/>
                </a:solidFill>
                <a:latin typeface="Calibri" pitchFamily="34" charset="0"/>
                <a:ea typeface="Calibri" pitchFamily="34" charset="-122"/>
                <a:cs typeface="Calibri" pitchFamily="34" charset="-120"/>
              </a:rPr>
              <a:t>Early stopping and Grad-CAM</a:t>
            </a:r>
            <a:endParaRPr lang="en-US" sz="2000" dirty="0"/>
          </a:p>
          <a:p>
            <a:pPr marL="342900" indent="-342900">
              <a:spcAft>
                <a:spcPts val="800"/>
              </a:spcAft>
              <a:buSzPct val="100000"/>
              <a:buChar char="•"/>
            </a:pPr>
            <a:r>
              <a:rPr lang="en-US" sz="1600" dirty="0">
                <a:solidFill>
                  <a:srgbClr val="2B2F45"/>
                </a:solidFill>
                <a:latin typeface="Calibri" pitchFamily="34" charset="0"/>
                <a:ea typeface="Calibri" pitchFamily="34" charset="-122"/>
                <a:cs typeface="Calibri" pitchFamily="34" charset="-120"/>
              </a:rPr>
              <a:t>Use the title and description text</a:t>
            </a:r>
            <a:endParaRPr lang="en-US" sz="2000" dirty="0"/>
          </a:p>
          <a:p>
            <a:pPr marL="342900" indent="-342900">
              <a:spcAft>
                <a:spcPts val="800"/>
              </a:spcAft>
              <a:buSzPct val="100000"/>
              <a:buChar char="•"/>
            </a:pPr>
            <a:r>
              <a:rPr lang="en-US" sz="1600" dirty="0">
                <a:solidFill>
                  <a:srgbClr val="2B2F45"/>
                </a:solidFill>
                <a:latin typeface="Calibri" pitchFamily="34" charset="0"/>
                <a:ea typeface="Calibri" pitchFamily="34" charset="-122"/>
                <a:cs typeface="Calibri" pitchFamily="34" charset="-120"/>
              </a:rPr>
              <a:t>Mobile app and voice input</a:t>
            </a:r>
            <a:endParaRPr lang="en-US" sz="20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7A7F99"/>
                </a:solidFill>
                <a:latin typeface="Calibri"/>
                <a:ea typeface="Calibri"/>
                <a:cs typeface="Calibri"/>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F2A5C"/>
        </a:solidFill>
      </p:bgPr>
    </p:bg>
    <p:spTree>
      <p:nvGrpSpPr>
        <p:cNvPr id="1" name=""/>
        <p:cNvGrpSpPr/>
        <p:nvPr/>
      </p:nvGrpSpPr>
      <p:grpSpPr>
        <a:xfrm>
          <a:off x="0" y="0"/>
          <a:ext cx="0" cy="0"/>
          <a:chOff x="0" y="0"/>
          <a:chExt cx="0" cy="0"/>
        </a:xfrm>
      </p:grpSpPr>
      <p:sp>
        <p:nvSpPr>
          <p:cNvPr id="2" name="Text 0"/>
          <p:cNvSpPr txBox="1"/>
          <p:nvPr/>
        </p:nvSpPr>
        <p:spPr>
          <a:xfrm>
            <a:off x="640080" y="457200"/>
            <a:ext cx="5029200" cy="7315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Conclusion</a:t>
            </a:r>
            <a:endParaRPr lang="en-US" sz="3600" dirty="0"/>
          </a:p>
        </p:txBody>
      </p:sp>
      <p:sp>
        <p:nvSpPr>
          <p:cNvPr id="3" name="Text 1"/>
          <p:cNvSpPr txBox="1"/>
          <p:nvPr/>
        </p:nvSpPr>
        <p:spPr>
          <a:xfrm>
            <a:off x="640080" y="1463040"/>
            <a:ext cx="5029200" cy="256032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FFFFFF"/>
                </a:solidFill>
                <a:latin typeface="Calibri" pitchFamily="34" charset="0"/>
                <a:ea typeface="Calibri" pitchFamily="34" charset="-122"/>
                <a:cs typeface="Calibri" pitchFamily="34" charset="-120"/>
              </a:rPr>
              <a:t>Fine-tuning a pre-trained ResNet18 reached 86.5% test accuracy on 8 crafts</a:t>
            </a:r>
            <a:endParaRPr lang="en-US" sz="1800" dirty="0"/>
          </a:p>
          <a:p>
            <a:pPr marL="342900" indent="-342900">
              <a:spcAft>
                <a:spcPts val="800"/>
              </a:spcAft>
              <a:buSzPct val="100000"/>
              <a:buChar char="•"/>
            </a:pPr>
            <a:r>
              <a:rPr lang="en-US" sz="1800" dirty="0">
                <a:solidFill>
                  <a:srgbClr val="FFFFFF"/>
                </a:solidFill>
                <a:latin typeface="Calibri" pitchFamily="34" charset="0"/>
                <a:ea typeface="Calibri" pitchFamily="34" charset="-122"/>
                <a:cs typeface="Calibri" pitchFamily="34" charset="-120"/>
              </a:rPr>
              <a:t>Metal craft is easy; look-alike block prints are hard</a:t>
            </a:r>
            <a:endParaRPr lang="en-US" sz="1800" dirty="0"/>
          </a:p>
          <a:p>
            <a:pPr marL="342900" indent="-342900">
              <a:spcAft>
                <a:spcPts val="800"/>
              </a:spcAft>
              <a:buSzPct val="100000"/>
              <a:buChar char="•"/>
            </a:pPr>
            <a:r>
              <a:rPr lang="en-US" sz="1800" dirty="0">
                <a:solidFill>
                  <a:srgbClr val="FFFFFF"/>
                </a:solidFill>
                <a:latin typeface="Calibri" pitchFamily="34" charset="0"/>
                <a:ea typeface="Calibri" pitchFamily="34" charset="-122"/>
                <a:cs typeface="Calibri" pitchFamily="34" charset="-120"/>
              </a:rPr>
              <a:t>The pipeline works end to end: photo, craft class, catalog card</a:t>
            </a:r>
            <a:endParaRPr lang="en-US" sz="1800" dirty="0"/>
          </a:p>
        </p:txBody>
      </p:sp>
      <p:sp>
        <p:nvSpPr>
          <p:cNvPr id="4" name="Text 2"/>
          <p:cNvSpPr txBox="1"/>
          <p:nvPr/>
        </p:nvSpPr>
        <p:spPr>
          <a:xfrm>
            <a:off x="640080" y="4206240"/>
            <a:ext cx="5029200" cy="457200"/>
          </a:xfrm>
          <a:prstGeom prst="rect">
            <a:avLst/>
          </a:prstGeom>
          <a:noFill/>
          <a:ln/>
        </p:spPr>
        <p:txBody>
          <a:bodyPr wrap="square" lIns="0" tIns="0" rIns="0" bIns="0" rtlCol="0" anchor="ctr"/>
          <a:lstStyle/>
          <a:p>
            <a:pPr indent="0" marL="0">
              <a:buNone/>
            </a:pPr>
            <a:r>
              <a:rPr lang="en-US" sz="2200" dirty="0">
                <a:solidFill>
                  <a:srgbClr val="D9DEF2"/>
                </a:solidFill>
                <a:latin typeface="Cambria" pitchFamily="34" charset="0"/>
                <a:ea typeface="Cambria" pitchFamily="34" charset="-122"/>
                <a:cs typeface="Cambria" pitchFamily="34" charset="-120"/>
              </a:rPr>
              <a:t>Thank you</a:t>
            </a:r>
            <a:endParaRPr lang="en-US" sz="2200" dirty="0"/>
          </a:p>
        </p:txBody>
      </p:sp>
      <p:sp>
        <p:nvSpPr>
          <p:cNvPr id="5" name="Shape 3"/>
          <p:cNvSpPr/>
          <p:nvPr/>
        </p:nvSpPr>
        <p:spPr>
          <a:xfrm>
            <a:off x="6309360" y="1143000"/>
            <a:ext cx="310896" cy="310896"/>
          </a:xfrm>
          <a:prstGeom prst="ellipse">
            <a:avLst/>
          </a:prstGeom>
          <a:solidFill>
            <a:srgbClr val="C4472F"/>
          </a:solidFill>
          <a:ln w="12700">
            <a:solidFill>
              <a:srgbClr val="C4472F"/>
            </a:solidFill>
            <a:prstDash val="solid"/>
          </a:ln>
        </p:spPr>
      </p:sp>
      <p:sp>
        <p:nvSpPr>
          <p:cNvPr id="6" name="Shape 4"/>
          <p:cNvSpPr/>
          <p:nvPr/>
        </p:nvSpPr>
        <p:spPr>
          <a:xfrm>
            <a:off x="6803136" y="1143000"/>
            <a:ext cx="310896" cy="310896"/>
          </a:xfrm>
          <a:prstGeom prst="ellipse">
            <a:avLst/>
          </a:prstGeom>
          <a:solidFill>
            <a:srgbClr val="3B4A8F"/>
          </a:solidFill>
          <a:ln w="12700">
            <a:solidFill>
              <a:srgbClr val="3B4A8F"/>
            </a:solidFill>
            <a:prstDash val="solid"/>
          </a:ln>
        </p:spPr>
      </p:sp>
      <p:sp>
        <p:nvSpPr>
          <p:cNvPr id="7" name="Shape 5"/>
          <p:cNvSpPr/>
          <p:nvPr/>
        </p:nvSpPr>
        <p:spPr>
          <a:xfrm>
            <a:off x="7296912" y="1143000"/>
            <a:ext cx="310896" cy="310896"/>
          </a:xfrm>
          <a:prstGeom prst="ellipse">
            <a:avLst/>
          </a:prstGeom>
          <a:solidFill>
            <a:srgbClr val="C4472F"/>
          </a:solidFill>
          <a:ln w="12700">
            <a:solidFill>
              <a:srgbClr val="C4472F"/>
            </a:solidFill>
            <a:prstDash val="solid"/>
          </a:ln>
        </p:spPr>
      </p:sp>
      <p:sp>
        <p:nvSpPr>
          <p:cNvPr id="8" name="Shape 6"/>
          <p:cNvSpPr/>
          <p:nvPr/>
        </p:nvSpPr>
        <p:spPr>
          <a:xfrm>
            <a:off x="7790688" y="1143000"/>
            <a:ext cx="310896" cy="310896"/>
          </a:xfrm>
          <a:prstGeom prst="ellipse">
            <a:avLst/>
          </a:prstGeom>
          <a:solidFill>
            <a:srgbClr val="3B4A8F"/>
          </a:solidFill>
          <a:ln w="12700">
            <a:solidFill>
              <a:srgbClr val="3B4A8F"/>
            </a:solidFill>
            <a:prstDash val="solid"/>
          </a:ln>
        </p:spPr>
      </p:sp>
      <p:sp>
        <p:nvSpPr>
          <p:cNvPr id="9" name="Shape 7"/>
          <p:cNvSpPr/>
          <p:nvPr/>
        </p:nvSpPr>
        <p:spPr>
          <a:xfrm>
            <a:off x="8284464" y="1143000"/>
            <a:ext cx="310896" cy="310896"/>
          </a:xfrm>
          <a:prstGeom prst="ellipse">
            <a:avLst/>
          </a:prstGeom>
          <a:solidFill>
            <a:srgbClr val="C4472F"/>
          </a:solidFill>
          <a:ln w="12700">
            <a:solidFill>
              <a:srgbClr val="C4472F"/>
            </a:solidFill>
            <a:prstDash val="solid"/>
          </a:ln>
        </p:spPr>
      </p:sp>
      <p:sp>
        <p:nvSpPr>
          <p:cNvPr id="10" name="Shape 8"/>
          <p:cNvSpPr/>
          <p:nvPr/>
        </p:nvSpPr>
        <p:spPr>
          <a:xfrm>
            <a:off x="6309360" y="1636776"/>
            <a:ext cx="310896" cy="310896"/>
          </a:xfrm>
          <a:prstGeom prst="ellipse">
            <a:avLst/>
          </a:prstGeom>
          <a:solidFill>
            <a:srgbClr val="3B4A8F"/>
          </a:solidFill>
          <a:ln w="12700">
            <a:solidFill>
              <a:srgbClr val="3B4A8F"/>
            </a:solidFill>
            <a:prstDash val="solid"/>
          </a:ln>
        </p:spPr>
      </p:sp>
      <p:sp>
        <p:nvSpPr>
          <p:cNvPr id="11" name="Shape 9"/>
          <p:cNvSpPr/>
          <p:nvPr/>
        </p:nvSpPr>
        <p:spPr>
          <a:xfrm>
            <a:off x="6803136" y="1636776"/>
            <a:ext cx="310896" cy="310896"/>
          </a:xfrm>
          <a:prstGeom prst="ellipse">
            <a:avLst/>
          </a:prstGeom>
          <a:solidFill>
            <a:srgbClr val="C4472F"/>
          </a:solidFill>
          <a:ln w="12700">
            <a:solidFill>
              <a:srgbClr val="C4472F"/>
            </a:solidFill>
            <a:prstDash val="solid"/>
          </a:ln>
        </p:spPr>
      </p:sp>
      <p:sp>
        <p:nvSpPr>
          <p:cNvPr id="12" name="Shape 10"/>
          <p:cNvSpPr/>
          <p:nvPr/>
        </p:nvSpPr>
        <p:spPr>
          <a:xfrm>
            <a:off x="7296912" y="1636776"/>
            <a:ext cx="310896" cy="310896"/>
          </a:xfrm>
          <a:prstGeom prst="ellipse">
            <a:avLst/>
          </a:prstGeom>
          <a:solidFill>
            <a:srgbClr val="3B4A8F"/>
          </a:solidFill>
          <a:ln w="12700">
            <a:solidFill>
              <a:srgbClr val="3B4A8F"/>
            </a:solidFill>
            <a:prstDash val="solid"/>
          </a:ln>
        </p:spPr>
      </p:sp>
      <p:sp>
        <p:nvSpPr>
          <p:cNvPr id="13" name="Shape 11"/>
          <p:cNvSpPr/>
          <p:nvPr/>
        </p:nvSpPr>
        <p:spPr>
          <a:xfrm>
            <a:off x="7790688" y="1636776"/>
            <a:ext cx="310896" cy="310896"/>
          </a:xfrm>
          <a:prstGeom prst="ellipse">
            <a:avLst/>
          </a:prstGeom>
          <a:solidFill>
            <a:srgbClr val="C4472F"/>
          </a:solidFill>
          <a:ln w="12700">
            <a:solidFill>
              <a:srgbClr val="C4472F"/>
            </a:solidFill>
            <a:prstDash val="solid"/>
          </a:ln>
        </p:spPr>
      </p:sp>
      <p:sp>
        <p:nvSpPr>
          <p:cNvPr id="14" name="Shape 12"/>
          <p:cNvSpPr/>
          <p:nvPr/>
        </p:nvSpPr>
        <p:spPr>
          <a:xfrm>
            <a:off x="8284464" y="1636776"/>
            <a:ext cx="310896" cy="310896"/>
          </a:xfrm>
          <a:prstGeom prst="ellipse">
            <a:avLst/>
          </a:prstGeom>
          <a:solidFill>
            <a:srgbClr val="3B4A8F"/>
          </a:solidFill>
          <a:ln w="12700">
            <a:solidFill>
              <a:srgbClr val="3B4A8F"/>
            </a:solidFill>
            <a:prstDash val="solid"/>
          </a:ln>
        </p:spPr>
      </p:sp>
      <p:sp>
        <p:nvSpPr>
          <p:cNvPr id="15" name="Shape 13"/>
          <p:cNvSpPr/>
          <p:nvPr/>
        </p:nvSpPr>
        <p:spPr>
          <a:xfrm>
            <a:off x="6309360" y="2130552"/>
            <a:ext cx="310896" cy="310896"/>
          </a:xfrm>
          <a:prstGeom prst="ellipse">
            <a:avLst/>
          </a:prstGeom>
          <a:solidFill>
            <a:srgbClr val="C4472F"/>
          </a:solidFill>
          <a:ln w="12700">
            <a:solidFill>
              <a:srgbClr val="C4472F"/>
            </a:solidFill>
            <a:prstDash val="solid"/>
          </a:ln>
        </p:spPr>
      </p:sp>
      <p:sp>
        <p:nvSpPr>
          <p:cNvPr id="16" name="Shape 14"/>
          <p:cNvSpPr/>
          <p:nvPr/>
        </p:nvSpPr>
        <p:spPr>
          <a:xfrm>
            <a:off x="6803136" y="2130552"/>
            <a:ext cx="310896" cy="310896"/>
          </a:xfrm>
          <a:prstGeom prst="ellipse">
            <a:avLst/>
          </a:prstGeom>
          <a:solidFill>
            <a:srgbClr val="3B4A8F"/>
          </a:solidFill>
          <a:ln w="12700">
            <a:solidFill>
              <a:srgbClr val="3B4A8F"/>
            </a:solidFill>
            <a:prstDash val="solid"/>
          </a:ln>
        </p:spPr>
      </p:sp>
      <p:sp>
        <p:nvSpPr>
          <p:cNvPr id="17" name="Shape 15"/>
          <p:cNvSpPr/>
          <p:nvPr/>
        </p:nvSpPr>
        <p:spPr>
          <a:xfrm>
            <a:off x="7296912" y="2130552"/>
            <a:ext cx="310896" cy="310896"/>
          </a:xfrm>
          <a:prstGeom prst="ellipse">
            <a:avLst/>
          </a:prstGeom>
          <a:solidFill>
            <a:srgbClr val="C4472F"/>
          </a:solidFill>
          <a:ln w="12700">
            <a:solidFill>
              <a:srgbClr val="C4472F"/>
            </a:solidFill>
            <a:prstDash val="solid"/>
          </a:ln>
        </p:spPr>
      </p:sp>
      <p:sp>
        <p:nvSpPr>
          <p:cNvPr id="18" name="Shape 16"/>
          <p:cNvSpPr/>
          <p:nvPr/>
        </p:nvSpPr>
        <p:spPr>
          <a:xfrm>
            <a:off x="7790688" y="2130552"/>
            <a:ext cx="310896" cy="310896"/>
          </a:xfrm>
          <a:prstGeom prst="ellipse">
            <a:avLst/>
          </a:prstGeom>
          <a:solidFill>
            <a:srgbClr val="3B4A8F"/>
          </a:solidFill>
          <a:ln w="12700">
            <a:solidFill>
              <a:srgbClr val="3B4A8F"/>
            </a:solidFill>
            <a:prstDash val="solid"/>
          </a:ln>
        </p:spPr>
      </p:sp>
      <p:sp>
        <p:nvSpPr>
          <p:cNvPr id="19" name="Shape 17"/>
          <p:cNvSpPr/>
          <p:nvPr/>
        </p:nvSpPr>
        <p:spPr>
          <a:xfrm>
            <a:off x="8284464" y="2130552"/>
            <a:ext cx="310896" cy="310896"/>
          </a:xfrm>
          <a:prstGeom prst="ellipse">
            <a:avLst/>
          </a:prstGeom>
          <a:solidFill>
            <a:srgbClr val="C4472F"/>
          </a:solidFill>
          <a:ln w="12700">
            <a:solidFill>
              <a:srgbClr val="C4472F"/>
            </a:solidFill>
            <a:prstDash val="solid"/>
          </a:ln>
        </p:spPr>
      </p:sp>
      <p:sp>
        <p:nvSpPr>
          <p:cNvPr id="20" name="Shape 18"/>
          <p:cNvSpPr/>
          <p:nvPr/>
        </p:nvSpPr>
        <p:spPr>
          <a:xfrm>
            <a:off x="6309360" y="2624328"/>
            <a:ext cx="310896" cy="310896"/>
          </a:xfrm>
          <a:prstGeom prst="ellipse">
            <a:avLst/>
          </a:prstGeom>
          <a:solidFill>
            <a:srgbClr val="3B4A8F"/>
          </a:solidFill>
          <a:ln w="12700">
            <a:solidFill>
              <a:srgbClr val="3B4A8F"/>
            </a:solidFill>
            <a:prstDash val="solid"/>
          </a:ln>
        </p:spPr>
      </p:sp>
      <p:sp>
        <p:nvSpPr>
          <p:cNvPr id="21" name="Shape 19"/>
          <p:cNvSpPr/>
          <p:nvPr/>
        </p:nvSpPr>
        <p:spPr>
          <a:xfrm>
            <a:off x="6803136" y="2624328"/>
            <a:ext cx="310896" cy="310896"/>
          </a:xfrm>
          <a:prstGeom prst="ellipse">
            <a:avLst/>
          </a:prstGeom>
          <a:solidFill>
            <a:srgbClr val="C4472F"/>
          </a:solidFill>
          <a:ln w="12700">
            <a:solidFill>
              <a:srgbClr val="C4472F"/>
            </a:solidFill>
            <a:prstDash val="solid"/>
          </a:ln>
        </p:spPr>
      </p:sp>
      <p:sp>
        <p:nvSpPr>
          <p:cNvPr id="22" name="Shape 20"/>
          <p:cNvSpPr/>
          <p:nvPr/>
        </p:nvSpPr>
        <p:spPr>
          <a:xfrm>
            <a:off x="7296912" y="2624328"/>
            <a:ext cx="310896" cy="310896"/>
          </a:xfrm>
          <a:prstGeom prst="ellipse">
            <a:avLst/>
          </a:prstGeom>
          <a:solidFill>
            <a:srgbClr val="3B4A8F"/>
          </a:solidFill>
          <a:ln w="12700">
            <a:solidFill>
              <a:srgbClr val="3B4A8F"/>
            </a:solidFill>
            <a:prstDash val="solid"/>
          </a:ln>
        </p:spPr>
      </p:sp>
      <p:sp>
        <p:nvSpPr>
          <p:cNvPr id="23" name="Shape 21"/>
          <p:cNvSpPr/>
          <p:nvPr/>
        </p:nvSpPr>
        <p:spPr>
          <a:xfrm>
            <a:off x="7790688" y="2624328"/>
            <a:ext cx="310896" cy="310896"/>
          </a:xfrm>
          <a:prstGeom prst="ellipse">
            <a:avLst/>
          </a:prstGeom>
          <a:solidFill>
            <a:srgbClr val="C4472F"/>
          </a:solidFill>
          <a:ln w="12700">
            <a:solidFill>
              <a:srgbClr val="C4472F"/>
            </a:solidFill>
            <a:prstDash val="solid"/>
          </a:ln>
        </p:spPr>
      </p:sp>
      <p:sp>
        <p:nvSpPr>
          <p:cNvPr id="24" name="Shape 22"/>
          <p:cNvSpPr/>
          <p:nvPr/>
        </p:nvSpPr>
        <p:spPr>
          <a:xfrm>
            <a:off x="8284464" y="2624328"/>
            <a:ext cx="310896" cy="310896"/>
          </a:xfrm>
          <a:prstGeom prst="ellipse">
            <a:avLst/>
          </a:prstGeom>
          <a:solidFill>
            <a:srgbClr val="3B4A8F"/>
          </a:solidFill>
          <a:ln w="12700">
            <a:solidFill>
              <a:srgbClr val="3B4A8F"/>
            </a:solidFill>
            <a:prstDash val="solid"/>
          </a:ln>
        </p:spPr>
      </p:sp>
      <p:sp>
        <p:nvSpPr>
          <p:cNvPr id="25" name="Shape 23"/>
          <p:cNvSpPr/>
          <p:nvPr/>
        </p:nvSpPr>
        <p:spPr>
          <a:xfrm>
            <a:off x="6309360" y="3118104"/>
            <a:ext cx="310896" cy="310896"/>
          </a:xfrm>
          <a:prstGeom prst="ellipse">
            <a:avLst/>
          </a:prstGeom>
          <a:solidFill>
            <a:srgbClr val="C4472F"/>
          </a:solidFill>
          <a:ln w="12700">
            <a:solidFill>
              <a:srgbClr val="C4472F"/>
            </a:solidFill>
            <a:prstDash val="solid"/>
          </a:ln>
        </p:spPr>
      </p:sp>
      <p:sp>
        <p:nvSpPr>
          <p:cNvPr id="26" name="Shape 24"/>
          <p:cNvSpPr/>
          <p:nvPr/>
        </p:nvSpPr>
        <p:spPr>
          <a:xfrm>
            <a:off x="6803136" y="3118104"/>
            <a:ext cx="310896" cy="310896"/>
          </a:xfrm>
          <a:prstGeom prst="ellipse">
            <a:avLst/>
          </a:prstGeom>
          <a:solidFill>
            <a:srgbClr val="3B4A8F"/>
          </a:solidFill>
          <a:ln w="12700">
            <a:solidFill>
              <a:srgbClr val="3B4A8F"/>
            </a:solidFill>
            <a:prstDash val="solid"/>
          </a:ln>
        </p:spPr>
      </p:sp>
      <p:sp>
        <p:nvSpPr>
          <p:cNvPr id="27" name="Shape 25"/>
          <p:cNvSpPr/>
          <p:nvPr/>
        </p:nvSpPr>
        <p:spPr>
          <a:xfrm>
            <a:off x="7296912" y="3118104"/>
            <a:ext cx="310896" cy="310896"/>
          </a:xfrm>
          <a:prstGeom prst="ellipse">
            <a:avLst/>
          </a:prstGeom>
          <a:solidFill>
            <a:srgbClr val="C4472F"/>
          </a:solidFill>
          <a:ln w="12700">
            <a:solidFill>
              <a:srgbClr val="C4472F"/>
            </a:solidFill>
            <a:prstDash val="solid"/>
          </a:ln>
        </p:spPr>
      </p:sp>
      <p:sp>
        <p:nvSpPr>
          <p:cNvPr id="28" name="Shape 26"/>
          <p:cNvSpPr/>
          <p:nvPr/>
        </p:nvSpPr>
        <p:spPr>
          <a:xfrm>
            <a:off x="7790688" y="3118104"/>
            <a:ext cx="310896" cy="310896"/>
          </a:xfrm>
          <a:prstGeom prst="ellipse">
            <a:avLst/>
          </a:prstGeom>
          <a:solidFill>
            <a:srgbClr val="3B4A8F"/>
          </a:solidFill>
          <a:ln w="12700">
            <a:solidFill>
              <a:srgbClr val="3B4A8F"/>
            </a:solidFill>
            <a:prstDash val="solid"/>
          </a:ln>
        </p:spPr>
      </p:sp>
      <p:sp>
        <p:nvSpPr>
          <p:cNvPr id="29" name="Shape 27"/>
          <p:cNvSpPr/>
          <p:nvPr/>
        </p:nvSpPr>
        <p:spPr>
          <a:xfrm>
            <a:off x="8284464" y="3118104"/>
            <a:ext cx="310896" cy="310896"/>
          </a:xfrm>
          <a:prstGeom prst="ellipse">
            <a:avLst/>
          </a:prstGeom>
          <a:solidFill>
            <a:srgbClr val="C4472F"/>
          </a:solidFill>
          <a:ln w="12700">
            <a:solidFill>
              <a:srgbClr val="C4472F"/>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Craft Cataloger</dc:title>
  <dc:subject>PptxGenJS Presentation</dc:subject>
  <dc:creator>Leela Sai Charan Putti, Suneet Reddy</dc:creator>
  <cp:lastModifiedBy>Leela Sai Charan Putti, Suneet Reddy</cp:lastModifiedBy>
  <cp:revision>1</cp:revision>
  <dcterms:created xsi:type="dcterms:W3CDTF">2026-10-25T07:02:09Z</dcterms:created>
  <dcterms:modified xsi:type="dcterms:W3CDTF">2026-10-25T07:02:09Z</dcterms:modified>
</cp:coreProperties>
</file>